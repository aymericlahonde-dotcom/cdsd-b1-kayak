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 — INTRO]</a:t>
            </a:r>
          </a:p>
          <a:p/>
          <a:p>
            <a:r>
              <a:t>Bonjour, je suis Aymeric Lahonde, et je vais vous présenter le projet Bloc 1 de la certification Jedha CDSD : « Plan your trip with Kayak ».</a:t>
            </a:r>
          </a:p>
          <a:p/>
          <a:p>
            <a:r>
              <a:t>Le contexte : Kayak, c'est un moteur de recherche de voyages qui appartient au groupe Booking Holdings. Une étude utilisateur leur a montré que 70% des gens qui planifient un voyage veulent plus d'infos sur leur destination. Du coup, ils veulent recommander les meilleures villes selon deux critères : la météo et les hôtels disponibles.</a:t>
            </a:r>
          </a:p>
          <a:p/>
          <a:p>
            <a:r>
              <a:t>Le périmètre qu'on m'a confié : les 35 plus belles villes françaises. Et le défi, c'est qu'il n'y a PAS de données — il faut tout construire : la collecte, le stockage cloud, et la restitution.</a:t>
            </a:r>
          </a:p>
          <a:p/>
          <a:p>
            <a:r>
              <a:t>Mon livrable : un pipeline complet, une base SQL en RDS, et 2 cartes interactives. Je vais vous montrer comment je m'y suis pris.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 ARCHITECTURE]</a:t>
            </a:r>
          </a:p>
          <a:p/>
          <a:p>
            <a:r>
              <a:t>Voici l'architecture complète. On lit de gauche à droite, c'est un pipeline ETL classique en 6 étapes.</a:t>
            </a:r>
          </a:p>
          <a:p/>
          <a:p>
            <a:r>
              <a:t>D'abord la COLLECTE :</a:t>
            </a:r>
          </a:p>
          <a:p>
            <a:r>
              <a:t>- Nominatim me donne les coordonnées GPS des 35 villes — c'est gratuit, sans clé API, parfait pour un projet bootcamp.</a:t>
            </a:r>
          </a:p>
          <a:p>
            <a:r>
              <a:t>- OpenWeather One Call API : pour chaque ville, je récupère la météo sur 5 jours en JSON.</a:t>
            </a:r>
          </a:p>
          <a:p>
            <a:r>
              <a:t>- Booking.com : je scrape les hôtels avec Selenium parce que le site est dynamique — un simple requests.get ne récupère pas le contenu, le HTML est généré côté client par JavaScript.</a:t>
            </a:r>
          </a:p>
          <a:p/>
          <a:p>
            <a:r>
              <a:t>Ensuite le STOCKAGE en deux niveaux — c'est important :</a:t>
            </a:r>
          </a:p>
          <a:p>
            <a:r>
              <a:t>- AWS S3 = mon Data Lake. J'y dépose les CSV bruts. C'est ma source de vérité, peu chère, schéma libre.</a:t>
            </a:r>
          </a:p>
          <a:p>
            <a:r>
              <a:t>- AWS RDS PostgreSQL = mon Data Warehouse. Je relis les CSV depuis S3, je nettoie, je charge dans des tables SQL.</a:t>
            </a:r>
          </a:p>
          <a:p/>
          <a:p>
            <a:r>
              <a:t>Pourquoi les deux ? Parce que si je n'avais que RDS, je perds la donnée brute si l'ETL casse. Et si je n'avais que S3, je n'ai pas de SQL rapide pour les analystes. C'est complémentaire.</a:t>
            </a:r>
          </a:p>
          <a:p/>
          <a:p>
            <a:r>
              <a:t>Enfin la RESTITUTION : Plotly Express me génère 2 cartes HTML interactives.</a:t>
            </a:r>
          </a:p>
          <a:p/>
          <a:p>
            <a:r>
              <a:t>Côté stack : Python, Selenium pour le dynamique, boto3 pour S3, psycopg2 pour Postgres. Tout est en free tier AWS — donc 0 € pendant la formation.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 COLLECTE]</a:t>
            </a:r>
          </a:p>
          <a:p/>
          <a:p>
            <a:r>
              <a:t>Voici les chiffres bruts de la collecte.</a:t>
            </a:r>
          </a:p>
          <a:p/>
          <a:p>
            <a:r>
              <a:t>35 villes sur 35, j'ai tout géocodé avec Nominatim. À 1 requête/seconde, ça prend 35 secondes. Pas de rate limit dépassé.</a:t>
            </a:r>
          </a:p>
          <a:p/>
          <a:p>
            <a:r>
              <a:t>175 mesures météo : 5 jours × 35 villes. Une mesure par jour avec température max, probabilité de pluie, volume de pluie, humidité, vent. Tout ça vient de l'API One Call d'OpenWeather.</a:t>
            </a:r>
          </a:p>
          <a:p/>
          <a:p>
            <a:r>
              <a:t>679 hôtels scrapés sur Booking, environ 20 par ville. C'est la partie la plus longue du pipeline — environ 10 secondes par ville en Selenium.</a:t>
            </a:r>
          </a:p>
          <a:p/>
          <a:p>
            <a:r>
              <a:t>Côté défis techniques : Booking est un site dynamique, donc requests + BeautifulSoup ne suffit pas. Il faut Selenium qui pilote un vrai Chrome headless pour exécuter le JavaScript.</a:t>
            </a:r>
          </a:p>
          <a:p/>
          <a:p>
            <a:r>
              <a:t>Le code n'est pas robuste à 100 % — si Booking change ses sélecteurs CSS, il faut mettre à jour le scraper. C'est inhérent au scraping, on l'accepte. J'ai mis des try/except partout pour qu'une ville qui plante ne perde pas la collecte des 34 autres.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 SCORE &amp; TOP 5]</a:t>
            </a:r>
          </a:p>
          <a:p/>
          <a:p>
            <a:r>
              <a:t>Maintenant le cœur métier : comment je classe les villes.</a:t>
            </a:r>
          </a:p>
          <a:p/>
          <a:p>
            <a:r>
              <a:t>J'ai construit un score composite sur 100, avec 4 composantes pondérées :</a:t>
            </a:r>
          </a:p>
          <a:p>
            <a:r>
              <a:t>- 40 % pour la température max — c'est ce qui compte le plus en vacances</a:t>
            </a:r>
          </a:p>
          <a:p>
            <a:r>
              <a:t>- 30 % pour la probabilité de pluie inversée — moins de pluie = meilleur score</a:t>
            </a:r>
          </a:p>
          <a:p>
            <a:r>
              <a:t>- 20 % pour le volume de pluie inversé</a:t>
            </a:r>
          </a:p>
          <a:p>
            <a:r>
              <a:t>- 10 % pour l'humidité inversée</a:t>
            </a:r>
          </a:p>
          <a:p/>
          <a:p>
            <a:r>
              <a:t>Toutes les composantes sont normalisées entre 0 et 100. La pondération est arbitraire — je l'assume — mais elle est documentée et explicable. En prod chez Kayak, on apprendrait ces poids à partir des comportements réels : clics, réservations, temps passé sur la page.</a:t>
            </a:r>
          </a:p>
          <a:p/>
          <a:p>
            <a:r>
              <a:t>Le résultat : le Top 5 c'est Aix-en-Provence à 88,9, Avignon, Marseille, Paris, Grenoble. C'est très Sud-Est, ce qui est cohérent avec une fenêtre de 5 jours en avril.</a:t>
            </a:r>
          </a:p>
          <a:p/>
          <a:p>
            <a:r>
              <a:t>Limites assumées : pas de saisonnalité, pas de prix d'hôtels intégré au score. Si on faisait ce projet en prod, on croiserait avec un dataset de réservations réelles.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 STOCKAGE AWS]</a:t>
            </a:r>
          </a:p>
          <a:p/>
          <a:p>
            <a:r>
              <a:t>L'infrastructure AWS — c'est le cœur du Bloc 1, la partie « data engineering ».</a:t>
            </a:r>
          </a:p>
          <a:p/>
          <a:p>
            <a:r>
              <a:t>Côté S3, mon Data Lake : un bucket kayak-jedha-aymeric, prefix raw/, avec 4 fichiers CSV pour 137 KB au total. C'est minuscule, mais l'architecture est la même qu'en prod, juste avec un volume bootcamp. J'ai activé le versioning et le chiffrement côté serveur.</a:t>
            </a:r>
          </a:p>
          <a:p/>
          <a:p>
            <a:r>
              <a:t>Côté RDS, mon Data Warehouse : une instance db.t3.micro PostgreSQL 16, en free tier 12 mois. Deux tables : cities_weather avec les 35 villes et leur score, et hotels avec les 679 hôtels — clé étrangère sur city_id pour faire le lien.</a:t>
            </a:r>
          </a:p>
          <a:p/>
          <a:p>
            <a:r>
              <a:t>Si le jury me demande pourquoi les Security Groups RDS sont ouverts à 0.0.0.0/0 : c'est un compromis bootcamp, pour pouvoir me connecter de n'importe quelle wifi. En prod, on restreindrait à des IP fixes ou un bastion.</a:t>
            </a:r>
          </a:p>
          <a:p/>
          <a:p>
            <a:r>
              <a:t>Côté livrables : les 3 sont là — bucket S3, base RDS requêtable, et les 2 cartes Plotly.</a:t>
            </a:r>
          </a:p>
          <a:p/>
          <a:p>
            <a:r>
              <a:t>Coût : 0 € pendant la formation grâce au free tier. Après, ça serait environ 13 €/mois — la RDS coûte plus que tout le reste.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 — CONCLUSION]</a:t>
            </a:r>
          </a:p>
          <a:p/>
          <a:p>
            <a:r>
              <a:t>Pour conclure.</a:t>
            </a:r>
          </a:p>
          <a:p/>
          <a:p>
            <a:r>
              <a:t>Ce que j'ai appris dans ce Bloc 1 : construire un pipeline ETL bout-en-bout, scraper un site dynamique, manipuler les APIs REST, stocker en cloud sur deux niveaux (lake et warehouse), modéliser une base relationnelle, et restituer en Plotly. Le tout reproductible avec requirements.txt et un README.</a:t>
            </a:r>
          </a:p>
          <a:p/>
          <a:p>
            <a:r>
              <a:t>Ce que je ferais différemment pour aller en prod chez Kayak : d'abord orchestrer le pipeline avec Airflow pour qu'il tourne tous les jours automatiquement. Ensuite remplacer mes credentials .env par un IAM role attaché à une EC2. Ajouter du retry exponentiel, du monitoring CloudWatch. Apprendre les poids du score météo à partir de données réelles. Et bien sûr élargir le périmètre — 35 villes c'est un POC, en vrai Kayak couvre le monde.</a:t>
            </a:r>
          </a:p>
          <a:p/>
          <a:p>
            <a:r>
              <a:t>Voilà, merci pour votre attention. Je suis prêt pour vos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371600"/>
            <a:ext cx="365760" cy="3657600"/>
          </a:xfrm>
          <a:prstGeom prst="rect">
            <a:avLst/>
          </a:prstGeom>
          <a:solidFill>
            <a:srgbClr val="E87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10972800" cy="1280160"/>
          </a:xfrm>
          <a:prstGeom prst="rect">
            <a:avLst/>
          </a:prstGeom>
          <a:noFill/>
        </p:spPr>
        <p:txBody>
          <a:bodyPr wrap="none">
            <a:spAutoFit/>
          </a:bodyPr>
          <a:lstStyle/>
          <a:p>
            <a:pPr>
              <a:defRPr sz="4800" b="1">
                <a:solidFill>
                  <a:srgbClr val="0B2A4A"/>
                </a:solidFill>
              </a:defRPr>
            </a:pPr>
            <a:r>
              <a:t>Plan your trip with Kayak</a:t>
            </a:r>
          </a:p>
        </p:txBody>
      </p:sp>
      <p:sp>
        <p:nvSpPr>
          <p:cNvPr id="5" name="TextBox 4"/>
          <p:cNvSpPr txBox="1"/>
          <p:nvPr/>
        </p:nvSpPr>
        <p:spPr>
          <a:xfrm>
            <a:off x="731520" y="2468880"/>
            <a:ext cx="10972800" cy="548640"/>
          </a:xfrm>
          <a:prstGeom prst="rect">
            <a:avLst/>
          </a:prstGeom>
          <a:noFill/>
        </p:spPr>
        <p:txBody>
          <a:bodyPr wrap="none">
            <a:spAutoFit/>
          </a:bodyPr>
          <a:lstStyle/>
          <a:p>
            <a:pPr>
              <a:defRPr sz="2000" i="1">
                <a:solidFill>
                  <a:srgbClr val="555B66"/>
                </a:solidFill>
              </a:defRPr>
            </a:pPr>
            <a:r>
              <a:t>Bloc 1 — Construction et alimentation d'une base de données (Data Engineering / ETL)</a:t>
            </a:r>
          </a:p>
        </p:txBody>
      </p:sp>
      <p:sp>
        <p:nvSpPr>
          <p:cNvPr id="6" name="Rounded Rectangle 5"/>
          <p:cNvSpPr/>
          <p:nvPr/>
        </p:nvSpPr>
        <p:spPr>
          <a:xfrm>
            <a:off x="731520" y="3383280"/>
            <a:ext cx="10698480" cy="2468880"/>
          </a:xfrm>
          <a:prstGeom prst="roundRect">
            <a:avLst/>
          </a:prstGeom>
          <a:solidFill>
            <a:srgbClr val="FFFFFF"/>
          </a:solidFill>
          <a:ln w="19050">
            <a:solidFill>
              <a:srgbClr val="0B2A4A"/>
            </a:solidFill>
          </a:ln>
        </p:spPr>
        <p:style>
          <a:lnRef idx="1">
            <a:schemeClr val="accent1"/>
          </a:lnRef>
          <a:fillRef idx="3">
            <a:schemeClr val="accent1"/>
          </a:fillRef>
          <a:effectRef idx="2">
            <a:schemeClr val="accent1"/>
          </a:effectRef>
          <a:fontRef idx="minor">
            <a:schemeClr val="lt1"/>
          </a:fontRef>
        </p:style>
        <p:txBody>
          <a:bodyPr rtlCol="0" anchor="ctr" lIns="274320" tIns="182880"/>
          <a:lstStyle/>
          <a:p>
            <a:pPr algn="ctr">
              <a:defRPr sz="2000" b="1">
                <a:solidFill>
                  <a:srgbClr val="E87A1E"/>
                </a:solidFill>
              </a:defRPr>
            </a:pPr>
            <a:r>
              <a:t>Ce que Kayak attend</a:t>
            </a:r>
          </a:p>
          <a:p>
            <a:pPr>
              <a:spcBef>
                <a:spcPts val="400"/>
              </a:spcBef>
              <a:defRPr sz="1500">
                <a:solidFill>
                  <a:srgbClr val="0B2A4A"/>
                </a:solidFill>
              </a:defRPr>
            </a:pPr>
            <a:r>
              <a:t>•  70% des utilisateurs veulent plus d'infos sur leur destination</a:t>
            </a:r>
          </a:p>
          <a:p>
            <a:pPr>
              <a:spcBef>
                <a:spcPts val="400"/>
              </a:spcBef>
              <a:defRPr sz="1500">
                <a:solidFill>
                  <a:srgbClr val="0B2A4A"/>
                </a:solidFill>
              </a:defRPr>
            </a:pPr>
            <a:r>
              <a:t>•  Recommander les meilleures villes françaises selon météo + hôtels</a:t>
            </a:r>
          </a:p>
          <a:p>
            <a:pPr>
              <a:spcBef>
                <a:spcPts val="400"/>
              </a:spcBef>
              <a:defRPr sz="1500">
                <a:solidFill>
                  <a:srgbClr val="0B2A4A"/>
                </a:solidFill>
              </a:defRPr>
            </a:pPr>
            <a:r>
              <a:t>•  Construire le pipeline de A à Z : pas de données existantes</a:t>
            </a:r>
          </a:p>
          <a:p>
            <a:pPr>
              <a:spcBef>
                <a:spcPts val="400"/>
              </a:spcBef>
              <a:defRPr sz="1500">
                <a:solidFill>
                  <a:srgbClr val="0B2A4A"/>
                </a:solidFill>
              </a:defRPr>
            </a:pPr>
            <a:r>
              <a:t>•  Restitution sous forme de cartes interactives (top 5 villes + top 20 hôtels)</a:t>
            </a:r>
          </a:p>
        </p:txBody>
      </p:sp>
      <p:sp>
        <p:nvSpPr>
          <p:cNvPr id="7" name="TextBox 6"/>
          <p:cNvSpPr txBox="1"/>
          <p:nvPr/>
        </p:nvSpPr>
        <p:spPr>
          <a:xfrm>
            <a:off x="731520" y="5943600"/>
            <a:ext cx="10972800" cy="457200"/>
          </a:xfrm>
          <a:prstGeom prst="rect">
            <a:avLst/>
          </a:prstGeom>
          <a:noFill/>
        </p:spPr>
        <p:txBody>
          <a:bodyPr wrap="none">
            <a:spAutoFit/>
          </a:bodyPr>
          <a:lstStyle/>
          <a:p>
            <a:pPr>
              <a:defRPr sz="1300">
                <a:solidFill>
                  <a:srgbClr val="555B66"/>
                </a:solidFill>
              </a:defRPr>
            </a:pPr>
            <a:r>
              <a:t>Aymeric Lahonde · Promotion CDSD Jedha 2026 · RNCP35288</a:t>
            </a:r>
          </a:p>
        </p:txBody>
      </p:sp>
      <p:sp>
        <p:nvSpPr>
          <p:cNvPr id="8" name="TextBox 7"/>
          <p:cNvSpPr txBox="1"/>
          <p:nvPr/>
        </p:nvSpPr>
        <p:spPr>
          <a:xfrm>
            <a:off x="365760" y="6446520"/>
            <a:ext cx="11430000" cy="320040"/>
          </a:xfrm>
          <a:prstGeom prst="rect">
            <a:avLst/>
          </a:prstGeom>
          <a:noFill/>
        </p:spPr>
        <p:txBody>
          <a:bodyPr wrap="none">
            <a:spAutoFit/>
          </a:bodyPr>
          <a:lstStyle/>
          <a:p>
            <a:pPr>
              <a:defRPr sz="1000">
                <a:solidFill>
                  <a:srgbClr val="555B66"/>
                </a:solidFill>
              </a:defRPr>
            </a:pPr>
            <a:r>
              <a:t>Aymeric Lahonde — CDSD Jedha 2026 — Bloc 1 Kayak</a:t>
            </a:r>
          </a:p>
          <a:p/>
        </p:txBody>
      </p:sp>
      <p:sp>
        <p:nvSpPr>
          <p:cNvPr id="9" name="TextBox 8"/>
          <p:cNvSpPr txBox="1"/>
          <p:nvPr/>
        </p:nvSpPr>
        <p:spPr>
          <a:xfrm>
            <a:off x="10972800" y="6446520"/>
            <a:ext cx="1097280" cy="320040"/>
          </a:xfrm>
          <a:prstGeom prst="rect">
            <a:avLst/>
          </a:prstGeom>
          <a:noFill/>
        </p:spPr>
        <p:txBody>
          <a:bodyPr wrap="none">
            <a:spAutoFit/>
          </a:bodyPr>
          <a:lstStyle/>
          <a:p>
            <a:pPr algn="r">
              <a:defRPr sz="1000">
                <a:solidFill>
                  <a:srgbClr val="555B66"/>
                </a:solidFill>
              </a:defRPr>
            </a:pPr>
            <a:r>
              <a:t>1 / 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lIns="457200" tIns="137160"/>
          <a:lstStyle/>
          <a:p>
            <a:pPr algn="ctr">
              <a:defRPr sz="2800" b="1">
                <a:solidFill>
                  <a:srgbClr val="FFFFFF"/>
                </a:solidFill>
              </a:defRPr>
            </a:pPr>
            <a:r>
              <a:t>Architecture du pipeline ETL</a:t>
            </a:r>
          </a:p>
          <a:p>
            <a:pPr>
              <a:defRPr sz="1400">
                <a:solidFill>
                  <a:srgbClr val="E87A1E"/>
                </a:solidFill>
              </a:defRPr>
            </a:pPr>
            <a:r>
              <a:t>Collecte → Data Lake → Data Warehouse → Visualisation</a:t>
            </a:r>
          </a:p>
        </p:txBody>
      </p:sp>
      <p:sp>
        <p:nvSpPr>
          <p:cNvPr id="4" name="Rounded Rectangle 3"/>
          <p:cNvSpPr/>
          <p:nvPr/>
        </p:nvSpPr>
        <p:spPr>
          <a:xfrm>
            <a:off x="320040" y="1371600"/>
            <a:ext cx="1783080" cy="1371600"/>
          </a:xfrm>
          <a:prstGeom prst="roundRect">
            <a:avLst/>
          </a:prstGeom>
          <a:solidFill>
            <a:srgbClr val="E87A1E"/>
          </a:solidFill>
          <a:ln>
            <a:noFill/>
          </a:ln>
        </p:spPr>
        <p:style>
          <a:lnRef idx="1">
            <a:schemeClr val="accent1"/>
          </a:lnRef>
          <a:fillRef idx="3">
            <a:schemeClr val="accent1"/>
          </a:fillRef>
          <a:effectRef idx="2">
            <a:schemeClr val="accent1"/>
          </a:effectRef>
          <a:fontRef idx="minor">
            <a:schemeClr val="lt1"/>
          </a:fontRef>
        </p:style>
        <p:txBody>
          <a:bodyPr rtlCol="0" anchor="ctr" tIns="91440"/>
          <a:lstStyle/>
          <a:p>
            <a:pPr algn="ctr">
              <a:defRPr sz="1300" b="1">
                <a:solidFill>
                  <a:srgbClr val="FFFFFF"/>
                </a:solidFill>
              </a:defRPr>
            </a:pPr>
            <a:r>
              <a:t>Nominatim</a:t>
            </a:r>
            <a:br/>
            <a:r>
              <a:t>(geocoding)</a:t>
            </a:r>
          </a:p>
          <a:p>
            <a:pPr algn="ctr">
              <a:spcBef>
                <a:spcPts val="400"/>
              </a:spcBef>
              <a:defRPr sz="1000">
                <a:solidFill>
                  <a:srgbClr val="FFFFFF"/>
                </a:solidFill>
              </a:defRPr>
            </a:pPr>
            <a:r>
              <a:t>Lat / Lon</a:t>
            </a:r>
            <a:br/>
            <a:r>
              <a:t>35 villes</a:t>
            </a:r>
          </a:p>
        </p:txBody>
      </p:sp>
      <p:sp>
        <p:nvSpPr>
          <p:cNvPr id="5" name="Right Arrow 4"/>
          <p:cNvSpPr/>
          <p:nvPr/>
        </p:nvSpPr>
        <p:spPr>
          <a:xfrm>
            <a:off x="2123120" y="1874520"/>
            <a:ext cx="124592" cy="365760"/>
          </a:xfrm>
          <a:prstGeom prst="rightArrow">
            <a:avLst/>
          </a:prstGeom>
          <a:solidFill>
            <a:srgbClr val="555B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2267712" y="1371600"/>
            <a:ext cx="1783080" cy="1371600"/>
          </a:xfrm>
          <a:prstGeom prst="roundRect">
            <a:avLst/>
          </a:prstGeom>
          <a:solidFill>
            <a:srgbClr val="E87A1E"/>
          </a:solidFill>
          <a:ln>
            <a:noFill/>
          </a:ln>
        </p:spPr>
        <p:style>
          <a:lnRef idx="1">
            <a:schemeClr val="accent1"/>
          </a:lnRef>
          <a:fillRef idx="3">
            <a:schemeClr val="accent1"/>
          </a:fillRef>
          <a:effectRef idx="2">
            <a:schemeClr val="accent1"/>
          </a:effectRef>
          <a:fontRef idx="minor">
            <a:schemeClr val="lt1"/>
          </a:fontRef>
        </p:style>
        <p:txBody>
          <a:bodyPr rtlCol="0" anchor="ctr" tIns="91440"/>
          <a:lstStyle/>
          <a:p>
            <a:pPr algn="ctr">
              <a:defRPr sz="1300" b="1">
                <a:solidFill>
                  <a:srgbClr val="FFFFFF"/>
                </a:solidFill>
              </a:defRPr>
            </a:pPr>
            <a:r>
              <a:t>OpenWeather</a:t>
            </a:r>
            <a:br/>
            <a:r>
              <a:t>One Call API</a:t>
            </a:r>
          </a:p>
          <a:p>
            <a:pPr algn="ctr">
              <a:spcBef>
                <a:spcPts val="400"/>
              </a:spcBef>
              <a:defRPr sz="1000">
                <a:solidFill>
                  <a:srgbClr val="FFFFFF"/>
                </a:solidFill>
              </a:defRPr>
            </a:pPr>
            <a:r>
              <a:t>Météo 5j</a:t>
            </a:r>
            <a:br/>
            <a:r>
              <a:t>(JSON)</a:t>
            </a:r>
          </a:p>
        </p:txBody>
      </p:sp>
      <p:sp>
        <p:nvSpPr>
          <p:cNvPr id="7" name="Right Arrow 6"/>
          <p:cNvSpPr/>
          <p:nvPr/>
        </p:nvSpPr>
        <p:spPr>
          <a:xfrm>
            <a:off x="4070792" y="1874520"/>
            <a:ext cx="124592" cy="365760"/>
          </a:xfrm>
          <a:prstGeom prst="rightArrow">
            <a:avLst/>
          </a:prstGeom>
          <a:solidFill>
            <a:srgbClr val="555B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215384" y="1371600"/>
            <a:ext cx="1783080" cy="1371600"/>
          </a:xfrm>
          <a:prstGeom prst="roundRect">
            <a:avLst/>
          </a:prstGeom>
          <a:solidFill>
            <a:srgbClr val="E87A1E"/>
          </a:solidFill>
          <a:ln>
            <a:noFill/>
          </a:ln>
        </p:spPr>
        <p:style>
          <a:lnRef idx="1">
            <a:schemeClr val="accent1"/>
          </a:lnRef>
          <a:fillRef idx="3">
            <a:schemeClr val="accent1"/>
          </a:fillRef>
          <a:effectRef idx="2">
            <a:schemeClr val="accent1"/>
          </a:effectRef>
          <a:fontRef idx="minor">
            <a:schemeClr val="lt1"/>
          </a:fontRef>
        </p:style>
        <p:txBody>
          <a:bodyPr rtlCol="0" anchor="ctr" tIns="91440"/>
          <a:lstStyle/>
          <a:p>
            <a:pPr algn="ctr">
              <a:defRPr sz="1300" b="1">
                <a:solidFill>
                  <a:srgbClr val="FFFFFF"/>
                </a:solidFill>
              </a:defRPr>
            </a:pPr>
            <a:r>
              <a:t>Booking.com</a:t>
            </a:r>
            <a:br/>
            <a:r>
              <a:t>Selenium + BS4</a:t>
            </a:r>
          </a:p>
          <a:p>
            <a:pPr algn="ctr">
              <a:spcBef>
                <a:spcPts val="400"/>
              </a:spcBef>
              <a:defRPr sz="1000">
                <a:solidFill>
                  <a:srgbClr val="FFFFFF"/>
                </a:solidFill>
              </a:defRPr>
            </a:pPr>
            <a:r>
              <a:t>Hôtels</a:t>
            </a:r>
            <a:br/>
            <a:r>
              <a:t>(scraping)</a:t>
            </a:r>
          </a:p>
        </p:txBody>
      </p:sp>
      <p:sp>
        <p:nvSpPr>
          <p:cNvPr id="9" name="Right Arrow 8"/>
          <p:cNvSpPr/>
          <p:nvPr/>
        </p:nvSpPr>
        <p:spPr>
          <a:xfrm>
            <a:off x="6018464" y="1874520"/>
            <a:ext cx="124592" cy="365760"/>
          </a:xfrm>
          <a:prstGeom prst="rightArrow">
            <a:avLst/>
          </a:prstGeom>
          <a:solidFill>
            <a:srgbClr val="555B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163056" y="1371600"/>
            <a:ext cx="1783080" cy="1371600"/>
          </a:xfrm>
          <a:prstGeom prst="roundRect">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tIns="91440"/>
          <a:lstStyle/>
          <a:p>
            <a:pPr algn="ctr">
              <a:defRPr sz="1300" b="1">
                <a:solidFill>
                  <a:srgbClr val="FFFFFF"/>
                </a:solidFill>
              </a:defRPr>
            </a:pPr>
            <a:r>
              <a:t>AWS S3</a:t>
            </a:r>
            <a:br/>
            <a:r>
              <a:t>Data Lake</a:t>
            </a:r>
          </a:p>
          <a:p>
            <a:pPr algn="ctr">
              <a:spcBef>
                <a:spcPts val="400"/>
              </a:spcBef>
              <a:defRPr sz="1000">
                <a:solidFill>
                  <a:srgbClr val="FFFFFF"/>
                </a:solidFill>
              </a:defRPr>
            </a:pPr>
            <a:r>
              <a:t>CSV bruts</a:t>
            </a:r>
            <a:br/>
            <a:r>
              <a:t>prefix raw/</a:t>
            </a:r>
          </a:p>
        </p:txBody>
      </p:sp>
      <p:sp>
        <p:nvSpPr>
          <p:cNvPr id="11" name="Right Arrow 10"/>
          <p:cNvSpPr/>
          <p:nvPr/>
        </p:nvSpPr>
        <p:spPr>
          <a:xfrm>
            <a:off x="7966136" y="1874520"/>
            <a:ext cx="124592" cy="365760"/>
          </a:xfrm>
          <a:prstGeom prst="rightArrow">
            <a:avLst/>
          </a:prstGeom>
          <a:solidFill>
            <a:srgbClr val="555B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110728" y="1371600"/>
            <a:ext cx="1783080" cy="1371600"/>
          </a:xfrm>
          <a:prstGeom prst="roundRect">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tIns="91440"/>
          <a:lstStyle/>
          <a:p>
            <a:pPr algn="ctr">
              <a:defRPr sz="1300" b="1">
                <a:solidFill>
                  <a:srgbClr val="FFFFFF"/>
                </a:solidFill>
              </a:defRPr>
            </a:pPr>
            <a:r>
              <a:t>AWS RDS</a:t>
            </a:r>
            <a:br/>
            <a:r>
              <a:t>PostgreSQL</a:t>
            </a:r>
          </a:p>
          <a:p>
            <a:pPr algn="ctr">
              <a:spcBef>
                <a:spcPts val="400"/>
              </a:spcBef>
              <a:defRPr sz="1000">
                <a:solidFill>
                  <a:srgbClr val="FFFFFF"/>
                </a:solidFill>
              </a:defRPr>
            </a:pPr>
            <a:r>
              <a:t>Tables</a:t>
            </a:r>
            <a:br/>
            <a:r>
              <a:t>nettoyées</a:t>
            </a:r>
          </a:p>
        </p:txBody>
      </p:sp>
      <p:sp>
        <p:nvSpPr>
          <p:cNvPr id="13" name="Right Arrow 12"/>
          <p:cNvSpPr/>
          <p:nvPr/>
        </p:nvSpPr>
        <p:spPr>
          <a:xfrm>
            <a:off x="9913808" y="1874520"/>
            <a:ext cx="124592" cy="365760"/>
          </a:xfrm>
          <a:prstGeom prst="rightArrow">
            <a:avLst/>
          </a:prstGeom>
          <a:solidFill>
            <a:srgbClr val="555B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0058400" y="1371600"/>
            <a:ext cx="1783080" cy="1371600"/>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tIns="91440"/>
          <a:lstStyle/>
          <a:p>
            <a:pPr algn="ctr">
              <a:defRPr sz="1300" b="1">
                <a:solidFill>
                  <a:srgbClr val="FFFFFF"/>
                </a:solidFill>
              </a:defRPr>
            </a:pPr>
            <a:r>
              <a:t>Plotly</a:t>
            </a:r>
            <a:br/>
            <a:r>
              <a:t>Map viz</a:t>
            </a:r>
          </a:p>
          <a:p>
            <a:pPr algn="ctr">
              <a:spcBef>
                <a:spcPts val="400"/>
              </a:spcBef>
              <a:defRPr sz="1000">
                <a:solidFill>
                  <a:srgbClr val="FFFFFF"/>
                </a:solidFill>
              </a:defRPr>
            </a:pPr>
            <a:r>
              <a:t>2 cartes</a:t>
            </a:r>
            <a:br/>
            <a:r>
              <a:t>HTML</a:t>
            </a:r>
          </a:p>
        </p:txBody>
      </p:sp>
      <p:sp>
        <p:nvSpPr>
          <p:cNvPr id="15" name="TextBox 14"/>
          <p:cNvSpPr txBox="1"/>
          <p:nvPr/>
        </p:nvSpPr>
        <p:spPr>
          <a:xfrm>
            <a:off x="457200" y="3108960"/>
            <a:ext cx="5486400" cy="3200400"/>
          </a:xfrm>
          <a:prstGeom prst="rect">
            <a:avLst/>
          </a:prstGeom>
          <a:noFill/>
        </p:spPr>
        <p:txBody>
          <a:bodyPr wrap="square">
            <a:spAutoFit/>
          </a:bodyPr>
          <a:lstStyle/>
          <a:p>
            <a:pPr>
              <a:spcAft>
                <a:spcPts val="600"/>
              </a:spcAft>
              <a:defRPr sz="1500" b="1">
                <a:solidFill>
                  <a:srgbClr val="0B2A4A"/>
                </a:solidFill>
              </a:defRPr>
            </a:pPr>
            <a:r>
              <a:t>Stack technique</a:t>
            </a:r>
          </a:p>
          <a:p>
            <a:pPr>
              <a:spcAft>
                <a:spcPts val="600"/>
              </a:spcAft>
              <a:defRPr sz="1500">
                <a:solidFill>
                  <a:srgbClr val="0B2A4A"/>
                </a:solidFill>
              </a:defRPr>
            </a:pPr>
            <a:r>
              <a:t>Python 3.11 · pandas · requests · beautifulsoup4</a:t>
            </a:r>
          </a:p>
          <a:p>
            <a:pPr>
              <a:spcAft>
                <a:spcPts val="600"/>
              </a:spcAft>
              <a:defRPr sz="1500">
                <a:solidFill>
                  <a:srgbClr val="0B2A4A"/>
                </a:solidFill>
              </a:defRPr>
            </a:pPr>
            <a:r>
              <a:t>Selenium (Chrome headless) — Booking dynamique en JS</a:t>
            </a:r>
          </a:p>
          <a:p>
            <a:pPr>
              <a:spcAft>
                <a:spcPts val="600"/>
              </a:spcAft>
              <a:defRPr sz="1500">
                <a:solidFill>
                  <a:srgbClr val="0B2A4A"/>
                </a:solidFill>
              </a:defRPr>
            </a:pPr>
            <a:r>
              <a:t>boto3 → S3 · psycopg2 + SQLAlchemy → RDS</a:t>
            </a:r>
          </a:p>
          <a:p>
            <a:pPr>
              <a:spcAft>
                <a:spcPts val="600"/>
              </a:spcAft>
              <a:defRPr sz="1500">
                <a:solidFill>
                  <a:srgbClr val="0B2A4A"/>
                </a:solidFill>
              </a:defRPr>
            </a:pPr>
            <a:r>
              <a:t>Plotly Express → cartes interactives HTML</a:t>
            </a:r>
          </a:p>
        </p:txBody>
      </p:sp>
      <p:sp>
        <p:nvSpPr>
          <p:cNvPr id="16" name="TextBox 15"/>
          <p:cNvSpPr txBox="1"/>
          <p:nvPr/>
        </p:nvSpPr>
        <p:spPr>
          <a:xfrm>
            <a:off x="6400800" y="3108960"/>
            <a:ext cx="5486400" cy="3200400"/>
          </a:xfrm>
          <a:prstGeom prst="rect">
            <a:avLst/>
          </a:prstGeom>
          <a:noFill/>
        </p:spPr>
        <p:txBody>
          <a:bodyPr wrap="square">
            <a:spAutoFit/>
          </a:bodyPr>
          <a:lstStyle/>
          <a:p>
            <a:pPr>
              <a:spcAft>
                <a:spcPts val="600"/>
              </a:spcAft>
              <a:defRPr sz="1500" b="1">
                <a:solidFill>
                  <a:srgbClr val="0B2A4A"/>
                </a:solidFill>
              </a:defRPr>
            </a:pPr>
            <a:r>
              <a:t>Pourquoi cette architecture</a:t>
            </a:r>
          </a:p>
          <a:p>
            <a:pPr>
              <a:spcAft>
                <a:spcPts val="600"/>
              </a:spcAft>
              <a:defRPr sz="1500">
                <a:solidFill>
                  <a:srgbClr val="0B2A4A"/>
                </a:solidFill>
              </a:defRPr>
            </a:pPr>
            <a:r>
              <a:t>S3 = stockage brut, schéma libre, archivage pas cher</a:t>
            </a:r>
          </a:p>
          <a:p>
            <a:pPr>
              <a:spcAft>
                <a:spcPts val="600"/>
              </a:spcAft>
              <a:defRPr sz="1500">
                <a:solidFill>
                  <a:srgbClr val="0B2A4A"/>
                </a:solidFill>
              </a:defRPr>
            </a:pPr>
            <a:r>
              <a:t>RDS = données nettoyées, requêtable en SQL</a:t>
            </a:r>
          </a:p>
          <a:p>
            <a:pPr>
              <a:spcAft>
                <a:spcPts val="600"/>
              </a:spcAft>
              <a:defRPr sz="1500">
                <a:solidFill>
                  <a:srgbClr val="0B2A4A"/>
                </a:solidFill>
              </a:defRPr>
            </a:pPr>
            <a:r>
              <a:t>Découplage collecte / analyse → on peut rejouer</a:t>
            </a:r>
          </a:p>
          <a:p>
            <a:pPr>
              <a:spcAft>
                <a:spcPts val="600"/>
              </a:spcAft>
              <a:defRPr sz="1500">
                <a:solidFill>
                  <a:srgbClr val="0B2A4A"/>
                </a:solidFill>
              </a:defRPr>
            </a:pPr>
            <a:r>
              <a:t>Free tier AWS → 0 € pendant la formation</a:t>
            </a:r>
          </a:p>
        </p:txBody>
      </p:sp>
      <p:sp>
        <p:nvSpPr>
          <p:cNvPr id="17" name="TextBox 16"/>
          <p:cNvSpPr txBox="1"/>
          <p:nvPr/>
        </p:nvSpPr>
        <p:spPr>
          <a:xfrm>
            <a:off x="365760" y="6446520"/>
            <a:ext cx="11430000" cy="320040"/>
          </a:xfrm>
          <a:prstGeom prst="rect">
            <a:avLst/>
          </a:prstGeom>
          <a:noFill/>
        </p:spPr>
        <p:txBody>
          <a:bodyPr wrap="none">
            <a:spAutoFit/>
          </a:bodyPr>
          <a:lstStyle/>
          <a:p>
            <a:pPr>
              <a:defRPr sz="1000">
                <a:solidFill>
                  <a:srgbClr val="555B66"/>
                </a:solidFill>
              </a:defRPr>
            </a:pPr>
            <a:r>
              <a:t>Aymeric Lahonde — CDSD Jedha 2026 — Bloc 1 Kayak</a:t>
            </a:r>
          </a:p>
          <a:p/>
        </p:txBody>
      </p:sp>
      <p:sp>
        <p:nvSpPr>
          <p:cNvPr id="18" name="TextBox 17"/>
          <p:cNvSpPr txBox="1"/>
          <p:nvPr/>
        </p:nvSpPr>
        <p:spPr>
          <a:xfrm>
            <a:off x="10972800" y="6446520"/>
            <a:ext cx="1097280" cy="320040"/>
          </a:xfrm>
          <a:prstGeom prst="rect">
            <a:avLst/>
          </a:prstGeom>
          <a:noFill/>
        </p:spPr>
        <p:txBody>
          <a:bodyPr wrap="none">
            <a:spAutoFit/>
          </a:bodyPr>
          <a:lstStyle/>
          <a:p>
            <a:pPr algn="r">
              <a:defRPr sz="1000">
                <a:solidFill>
                  <a:srgbClr val="555B66"/>
                </a:solidFill>
              </a:defRPr>
            </a:pPr>
            <a:r>
              <a:t>2 / 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lIns="457200" tIns="137160"/>
          <a:lstStyle/>
          <a:p>
            <a:pPr algn="ctr">
              <a:defRPr sz="2800" b="1">
                <a:solidFill>
                  <a:srgbClr val="FFFFFF"/>
                </a:solidFill>
              </a:defRPr>
            </a:pPr>
            <a:r>
              <a:t>Collecte des données</a:t>
            </a:r>
          </a:p>
          <a:p>
            <a:pPr>
              <a:defRPr sz="1400">
                <a:solidFill>
                  <a:srgbClr val="E87A1E"/>
                </a:solidFill>
              </a:defRPr>
            </a:pPr>
            <a:r>
              <a:t>Géocodage · Météo OpenWeather · Scraping Booking.com</a:t>
            </a:r>
          </a:p>
        </p:txBody>
      </p:sp>
      <p:sp>
        <p:nvSpPr>
          <p:cNvPr id="4" name="Rounded Rectangle 3"/>
          <p:cNvSpPr/>
          <p:nvPr/>
        </p:nvSpPr>
        <p:spPr>
          <a:xfrm>
            <a:off x="457200" y="1371600"/>
            <a:ext cx="3657600" cy="2194560"/>
          </a:xfrm>
          <a:prstGeom prst="roundRect">
            <a:avLst/>
          </a:prstGeom>
          <a:solidFill>
            <a:srgbClr val="FFFFFF"/>
          </a:solidFill>
          <a:ln w="19050">
            <a:solidFill>
              <a:srgbClr val="0B2A4A"/>
            </a:solidFill>
          </a:ln>
        </p:spPr>
        <p:style>
          <a:lnRef idx="1">
            <a:schemeClr val="accent1"/>
          </a:lnRef>
          <a:fillRef idx="3">
            <a:schemeClr val="accent1"/>
          </a:fillRef>
          <a:effectRef idx="2">
            <a:schemeClr val="accent1"/>
          </a:effectRef>
          <a:fontRef idx="minor">
            <a:schemeClr val="lt1"/>
          </a:fontRef>
        </p:style>
        <p:txBody>
          <a:bodyPr rtlCol="0" anchor="ctr" tIns="228600"/>
          <a:lstStyle/>
          <a:p>
            <a:pPr algn="ctr">
              <a:defRPr sz="4600" b="1">
                <a:solidFill>
                  <a:srgbClr val="E87A1E"/>
                </a:solidFill>
              </a:defRPr>
            </a:pPr>
            <a:r>
              <a:t>35 / 35</a:t>
            </a:r>
          </a:p>
          <a:p>
            <a:pPr algn="ctr">
              <a:defRPr sz="1600" b="1">
                <a:solidFill>
                  <a:srgbClr val="0B2A4A"/>
                </a:solidFill>
              </a:defRPr>
            </a:pPr>
            <a:r>
              <a:t>villes géocodées</a:t>
            </a:r>
          </a:p>
          <a:p>
            <a:pPr algn="ctr">
              <a:spcBef>
                <a:spcPts val="800"/>
              </a:spcBef>
              <a:defRPr sz="1200">
                <a:solidFill>
                  <a:srgbClr val="555B66"/>
                </a:solidFill>
              </a:defRPr>
            </a:pPr>
            <a:r>
              <a:t>Nominatim — 1 req/sec</a:t>
            </a:r>
            <a:br/>
            <a:r>
              <a:t>politique d'usage</a:t>
            </a:r>
          </a:p>
        </p:txBody>
      </p:sp>
      <p:sp>
        <p:nvSpPr>
          <p:cNvPr id="5" name="Rounded Rectangle 4"/>
          <p:cNvSpPr/>
          <p:nvPr/>
        </p:nvSpPr>
        <p:spPr>
          <a:xfrm>
            <a:off x="4343400" y="1371600"/>
            <a:ext cx="3657600" cy="2194560"/>
          </a:xfrm>
          <a:prstGeom prst="roundRect">
            <a:avLst/>
          </a:prstGeom>
          <a:solidFill>
            <a:srgbClr val="FFFFFF"/>
          </a:solidFill>
          <a:ln w="19050">
            <a:solidFill>
              <a:srgbClr val="0B2A4A"/>
            </a:solidFill>
          </a:ln>
        </p:spPr>
        <p:style>
          <a:lnRef idx="1">
            <a:schemeClr val="accent1"/>
          </a:lnRef>
          <a:fillRef idx="3">
            <a:schemeClr val="accent1"/>
          </a:fillRef>
          <a:effectRef idx="2">
            <a:schemeClr val="accent1"/>
          </a:effectRef>
          <a:fontRef idx="minor">
            <a:schemeClr val="lt1"/>
          </a:fontRef>
        </p:style>
        <p:txBody>
          <a:bodyPr rtlCol="0" anchor="ctr" tIns="228600"/>
          <a:lstStyle/>
          <a:p>
            <a:pPr algn="ctr">
              <a:defRPr sz="4600" b="1">
                <a:solidFill>
                  <a:srgbClr val="E87A1E"/>
                </a:solidFill>
              </a:defRPr>
            </a:pPr>
            <a:r>
              <a:t>175</a:t>
            </a:r>
          </a:p>
          <a:p>
            <a:pPr algn="ctr">
              <a:defRPr sz="1600" b="1">
                <a:solidFill>
                  <a:srgbClr val="0B2A4A"/>
                </a:solidFill>
              </a:defRPr>
            </a:pPr>
            <a:r>
              <a:t>mesures météo</a:t>
            </a:r>
          </a:p>
          <a:p>
            <a:pPr algn="ctr">
              <a:spcBef>
                <a:spcPts val="800"/>
              </a:spcBef>
              <a:defRPr sz="1200">
                <a:solidFill>
                  <a:srgbClr val="555B66"/>
                </a:solidFill>
              </a:defRPr>
            </a:pPr>
            <a:r>
              <a:t>5 jours × 35 villes</a:t>
            </a:r>
            <a:br/>
            <a:r>
              <a:t>One Call API</a:t>
            </a:r>
          </a:p>
        </p:txBody>
      </p:sp>
      <p:sp>
        <p:nvSpPr>
          <p:cNvPr id="6" name="Rounded Rectangle 5"/>
          <p:cNvSpPr/>
          <p:nvPr/>
        </p:nvSpPr>
        <p:spPr>
          <a:xfrm>
            <a:off x="8229600" y="1371600"/>
            <a:ext cx="3657600" cy="2194560"/>
          </a:xfrm>
          <a:prstGeom prst="roundRect">
            <a:avLst/>
          </a:prstGeom>
          <a:solidFill>
            <a:srgbClr val="FFFFFF"/>
          </a:solidFill>
          <a:ln w="19050">
            <a:solidFill>
              <a:srgbClr val="0B2A4A"/>
            </a:solidFill>
          </a:ln>
        </p:spPr>
        <p:style>
          <a:lnRef idx="1">
            <a:schemeClr val="accent1"/>
          </a:lnRef>
          <a:fillRef idx="3">
            <a:schemeClr val="accent1"/>
          </a:fillRef>
          <a:effectRef idx="2">
            <a:schemeClr val="accent1"/>
          </a:effectRef>
          <a:fontRef idx="minor">
            <a:schemeClr val="lt1"/>
          </a:fontRef>
        </p:style>
        <p:txBody>
          <a:bodyPr rtlCol="0" anchor="ctr" tIns="228600"/>
          <a:lstStyle/>
          <a:p>
            <a:pPr algn="ctr">
              <a:defRPr sz="4600" b="1">
                <a:solidFill>
                  <a:srgbClr val="E87A1E"/>
                </a:solidFill>
              </a:defRPr>
            </a:pPr>
            <a:r>
              <a:t>679</a:t>
            </a:r>
          </a:p>
          <a:p>
            <a:pPr algn="ctr">
              <a:defRPr sz="1600" b="1">
                <a:solidFill>
                  <a:srgbClr val="0B2A4A"/>
                </a:solidFill>
              </a:defRPr>
            </a:pPr>
            <a:r>
              <a:t>hôtels scrapés</a:t>
            </a:r>
          </a:p>
          <a:p>
            <a:pPr algn="ctr">
              <a:spcBef>
                <a:spcPts val="800"/>
              </a:spcBef>
              <a:defRPr sz="1200">
                <a:solidFill>
                  <a:srgbClr val="555B66"/>
                </a:solidFill>
              </a:defRPr>
            </a:pPr>
            <a:r>
              <a:t>≈ 20 / ville</a:t>
            </a:r>
            <a:br/>
            <a:r>
              <a:t>Selenium + BeautifulSoup</a:t>
            </a:r>
          </a:p>
        </p:txBody>
      </p:sp>
      <p:sp>
        <p:nvSpPr>
          <p:cNvPr id="7" name="TextBox 6"/>
          <p:cNvSpPr txBox="1"/>
          <p:nvPr/>
        </p:nvSpPr>
        <p:spPr>
          <a:xfrm>
            <a:off x="457200" y="3931920"/>
            <a:ext cx="11430000" cy="2286000"/>
          </a:xfrm>
          <a:prstGeom prst="rect">
            <a:avLst/>
          </a:prstGeom>
          <a:noFill/>
        </p:spPr>
        <p:txBody>
          <a:bodyPr wrap="square">
            <a:spAutoFit/>
          </a:bodyPr>
          <a:lstStyle/>
          <a:p>
            <a:pPr>
              <a:spcAft>
                <a:spcPts val="600"/>
              </a:spcAft>
              <a:defRPr sz="1500" b="1">
                <a:solidFill>
                  <a:srgbClr val="0B2A4A"/>
                </a:solidFill>
              </a:defRPr>
            </a:pPr>
            <a:r>
              <a:t>Défis techniques rencontrés</a:t>
            </a:r>
          </a:p>
          <a:p>
            <a:pPr>
              <a:spcAft>
                <a:spcPts val="600"/>
              </a:spcAft>
              <a:defRPr sz="1500">
                <a:solidFill>
                  <a:srgbClr val="0B2A4A"/>
                </a:solidFill>
              </a:defRPr>
            </a:pPr>
            <a:r>
              <a:t>Booking en JS dynamique → Selenium headless obligatoire (~10 s / ville)</a:t>
            </a:r>
          </a:p>
          <a:p>
            <a:pPr>
              <a:spcAft>
                <a:spcPts val="600"/>
              </a:spcAft>
              <a:defRPr sz="1500">
                <a:solidFill>
                  <a:srgbClr val="0B2A4A"/>
                </a:solidFill>
              </a:defRPr>
            </a:pPr>
            <a:r>
              <a:t>Nominatim limite 1 req/sec → time.sleep(1) entre chaque ville</a:t>
            </a:r>
          </a:p>
          <a:p>
            <a:pPr>
              <a:spcAft>
                <a:spcPts val="600"/>
              </a:spcAft>
              <a:defRPr sz="1500">
                <a:solidFill>
                  <a:srgbClr val="0B2A4A"/>
                </a:solidFill>
              </a:defRPr>
            </a:pPr>
            <a:r>
              <a:t>Sélecteurs CSS Booking changent souvent → code fragile, à monitorer</a:t>
            </a:r>
          </a:p>
          <a:p>
            <a:pPr>
              <a:spcAft>
                <a:spcPts val="600"/>
              </a:spcAft>
              <a:defRPr sz="1500">
                <a:solidFill>
                  <a:srgbClr val="0B2A4A"/>
                </a:solidFill>
              </a:defRPr>
            </a:pPr>
            <a:r>
              <a:t>Encoding accents (Saint-Malo → St Malo) → normalisation côté géocodage</a:t>
            </a:r>
          </a:p>
          <a:p>
            <a:pPr>
              <a:spcAft>
                <a:spcPts val="600"/>
              </a:spcAft>
              <a:defRPr sz="1500">
                <a:solidFill>
                  <a:srgbClr val="0B2A4A"/>
                </a:solidFill>
              </a:defRPr>
            </a:pPr>
            <a:r>
              <a:t>Try / except autour des appels API → on ne perd pas la collecte sur 1 ville</a:t>
            </a:r>
          </a:p>
        </p:txBody>
      </p:sp>
      <p:sp>
        <p:nvSpPr>
          <p:cNvPr id="8" name="TextBox 7"/>
          <p:cNvSpPr txBox="1"/>
          <p:nvPr/>
        </p:nvSpPr>
        <p:spPr>
          <a:xfrm>
            <a:off x="365760" y="6446520"/>
            <a:ext cx="11430000" cy="320040"/>
          </a:xfrm>
          <a:prstGeom prst="rect">
            <a:avLst/>
          </a:prstGeom>
          <a:noFill/>
        </p:spPr>
        <p:txBody>
          <a:bodyPr wrap="none">
            <a:spAutoFit/>
          </a:bodyPr>
          <a:lstStyle/>
          <a:p>
            <a:pPr>
              <a:defRPr sz="1000">
                <a:solidFill>
                  <a:srgbClr val="555B66"/>
                </a:solidFill>
              </a:defRPr>
            </a:pPr>
            <a:r>
              <a:t>Aymeric Lahonde — CDSD Jedha 2026 — Bloc 1 Kayak</a:t>
            </a:r>
          </a:p>
          <a:p/>
        </p:txBody>
      </p:sp>
      <p:sp>
        <p:nvSpPr>
          <p:cNvPr id="9" name="TextBox 8"/>
          <p:cNvSpPr txBox="1"/>
          <p:nvPr/>
        </p:nvSpPr>
        <p:spPr>
          <a:xfrm>
            <a:off x="10972800" y="6446520"/>
            <a:ext cx="1097280" cy="320040"/>
          </a:xfrm>
          <a:prstGeom prst="rect">
            <a:avLst/>
          </a:prstGeom>
          <a:noFill/>
        </p:spPr>
        <p:txBody>
          <a:bodyPr wrap="none">
            <a:spAutoFit/>
          </a:bodyPr>
          <a:lstStyle/>
          <a:p>
            <a:pPr algn="r">
              <a:defRPr sz="1000">
                <a:solidFill>
                  <a:srgbClr val="555B66"/>
                </a:solidFill>
              </a:defRPr>
            </a:pPr>
            <a:r>
              <a:t>3 / 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lIns="457200" tIns="137160"/>
          <a:lstStyle/>
          <a:p>
            <a:pPr algn="ctr">
              <a:defRPr sz="2800" b="1">
                <a:solidFill>
                  <a:srgbClr val="FFFFFF"/>
                </a:solidFill>
              </a:defRPr>
            </a:pPr>
            <a:r>
              <a:t>Score météo &amp; Top 5 destinations</a:t>
            </a:r>
          </a:p>
          <a:p>
            <a:pPr>
              <a:defRPr sz="1400">
                <a:solidFill>
                  <a:srgbClr val="E87A1E"/>
                </a:solidFill>
              </a:defRPr>
            </a:pPr>
            <a:r>
              <a:t>Métrique composite normalisée 0–100</a:t>
            </a:r>
          </a:p>
        </p:txBody>
      </p:sp>
      <p:sp>
        <p:nvSpPr>
          <p:cNvPr id="4" name="TextBox 3"/>
          <p:cNvSpPr txBox="1"/>
          <p:nvPr/>
        </p:nvSpPr>
        <p:spPr>
          <a:xfrm>
            <a:off x="457200" y="1280160"/>
            <a:ext cx="5486400" cy="457200"/>
          </a:xfrm>
          <a:prstGeom prst="rect">
            <a:avLst/>
          </a:prstGeom>
          <a:noFill/>
        </p:spPr>
        <p:txBody>
          <a:bodyPr wrap="square">
            <a:spAutoFit/>
          </a:bodyPr>
          <a:lstStyle/>
          <a:p>
            <a:pPr>
              <a:spcAft>
                <a:spcPts val="600"/>
              </a:spcAft>
              <a:defRPr sz="1800" b="1">
                <a:solidFill>
                  <a:srgbClr val="E87A1E"/>
                </a:solidFill>
              </a:defRPr>
            </a:pPr>
            <a:r>
              <a:t>Formule de scoring</a:t>
            </a:r>
          </a:p>
        </p:txBody>
      </p:sp>
      <p:sp>
        <p:nvSpPr>
          <p:cNvPr id="5" name="Rounded Rectangle 4"/>
          <p:cNvSpPr/>
          <p:nvPr/>
        </p:nvSpPr>
        <p:spPr>
          <a:xfrm>
            <a:off x="457200" y="1828800"/>
            <a:ext cx="5486400" cy="2194560"/>
          </a:xfrm>
          <a:prstGeom prst="roundRect">
            <a:avLst/>
          </a:prstGeom>
          <a:solidFill>
            <a:srgbClr val="FFFFFF"/>
          </a:solidFill>
          <a:ln w="12700">
            <a:solidFill>
              <a:srgbClr val="0B2A4A"/>
            </a:solidFill>
          </a:ln>
        </p:spPr>
        <p:style>
          <a:lnRef idx="1">
            <a:schemeClr val="accent1"/>
          </a:lnRef>
          <a:fillRef idx="3">
            <a:schemeClr val="accent1"/>
          </a:fillRef>
          <a:effectRef idx="2">
            <a:schemeClr val="accent1"/>
          </a:effectRef>
          <a:fontRef idx="minor">
            <a:schemeClr val="lt1"/>
          </a:fontRef>
        </p:style>
        <p:txBody>
          <a:bodyPr rtlCol="0" anchor="ctr" lIns="228600" tIns="182880"/>
          <a:lstStyle/>
          <a:p>
            <a:pPr algn="ctr">
              <a:defRPr sz="1800" b="1">
                <a:solidFill>
                  <a:srgbClr val="0B2A4A"/>
                </a:solidFill>
              </a:defRPr>
            </a:pPr>
            <a:r>
              <a:t>score = 0.4 × T_max</a:t>
            </a:r>
          </a:p>
          <a:p>
            <a:pPr>
              <a:defRPr sz="1400" i="0">
                <a:solidFill>
                  <a:srgbClr val="0B2A4A"/>
                </a:solidFill>
              </a:defRPr>
            </a:pPr>
            <a:r>
              <a:t>        + 0.3 × (1 − P_pluie)</a:t>
            </a:r>
          </a:p>
          <a:p>
            <a:pPr>
              <a:defRPr sz="1400" i="0">
                <a:solidFill>
                  <a:srgbClr val="0B2A4A"/>
                </a:solidFill>
              </a:defRPr>
            </a:pPr>
            <a:r>
              <a:t>        + 0.2 × (1 − V_pluie)</a:t>
            </a:r>
          </a:p>
          <a:p>
            <a:pPr>
              <a:defRPr sz="1400" i="0">
                <a:solidFill>
                  <a:srgbClr val="0B2A4A"/>
                </a:solidFill>
              </a:defRPr>
            </a:pPr>
            <a:r>
              <a:t>        + 0.1 × (1 − Humidité)</a:t>
            </a:r>
          </a:p>
          <a:p>
            <a:pPr>
              <a:defRPr sz="1400" i="0">
                <a:solidFill>
                  <a:srgbClr val="FFFFFF"/>
                </a:solidFill>
              </a:defRPr>
            </a:pPr>
          </a:p>
          <a:p>
            <a:pPr>
              <a:defRPr sz="1200" i="1">
                <a:solidFill>
                  <a:srgbClr val="555B66"/>
                </a:solidFill>
              </a:defRPr>
            </a:pPr>
            <a:r>
              <a:t>Toutes les composantes normalisées 0–100</a:t>
            </a:r>
          </a:p>
          <a:p>
            <a:pPr>
              <a:defRPr sz="1200" i="1">
                <a:solidFill>
                  <a:srgbClr val="555B66"/>
                </a:solidFill>
              </a:defRPr>
            </a:pPr>
            <a:r>
              <a:t>Pondération arbitraire mais documentée</a:t>
            </a:r>
          </a:p>
        </p:txBody>
      </p:sp>
      <p:sp>
        <p:nvSpPr>
          <p:cNvPr id="6" name="TextBox 5"/>
          <p:cNvSpPr txBox="1"/>
          <p:nvPr/>
        </p:nvSpPr>
        <p:spPr>
          <a:xfrm>
            <a:off x="6400800" y="1280160"/>
            <a:ext cx="5486400" cy="457200"/>
          </a:xfrm>
          <a:prstGeom prst="rect">
            <a:avLst/>
          </a:prstGeom>
          <a:noFill/>
        </p:spPr>
        <p:txBody>
          <a:bodyPr wrap="square">
            <a:spAutoFit/>
          </a:bodyPr>
          <a:lstStyle/>
          <a:p>
            <a:pPr>
              <a:spcAft>
                <a:spcPts val="600"/>
              </a:spcAft>
              <a:defRPr sz="1800" b="1">
                <a:solidFill>
                  <a:srgbClr val="E87A1E"/>
                </a:solidFill>
              </a:defRPr>
            </a:pPr>
            <a:r>
              <a:t>Top 5 destinations (score / 100)</a:t>
            </a:r>
          </a:p>
        </p:txBody>
      </p:sp>
      <p:sp>
        <p:nvSpPr>
          <p:cNvPr id="7" name="Rectangle 6"/>
          <p:cNvSpPr/>
          <p:nvPr/>
        </p:nvSpPr>
        <p:spPr>
          <a:xfrm>
            <a:off x="6400800" y="1828800"/>
            <a:ext cx="5486400" cy="457200"/>
          </a:xfrm>
          <a:prstGeom prst="rect">
            <a:avLst/>
          </a:prstGeom>
          <a:solidFill>
            <a:srgbClr val="FFFFFF"/>
          </a:solidFill>
          <a:ln w="6350">
            <a:solidFill>
              <a:srgbClr val="555B66"/>
            </a:solidFill>
          </a:ln>
        </p:spPr>
        <p:style>
          <a:lnRef idx="1">
            <a:schemeClr val="accent1"/>
          </a:lnRef>
          <a:fillRef idx="3">
            <a:schemeClr val="accent1"/>
          </a:fillRef>
          <a:effectRef idx="2">
            <a:schemeClr val="accent1"/>
          </a:effectRef>
          <a:fontRef idx="minor">
            <a:schemeClr val="lt1"/>
          </a:fontRef>
        </p:style>
        <p:txBody>
          <a:bodyPr rtlCol="0" anchor="ctr" lIns="182880"/>
          <a:lstStyle/>
          <a:p>
            <a:pPr algn="ctr">
              <a:defRPr sz="1500" b="1">
                <a:solidFill>
                  <a:srgbClr val="E87A1E"/>
                </a:solidFill>
              </a:defRPr>
            </a:pPr>
            <a:r>
              <a:t>  1.   Aix-en-Provence                      88,9</a:t>
            </a:r>
          </a:p>
        </p:txBody>
      </p:sp>
      <p:sp>
        <p:nvSpPr>
          <p:cNvPr id="8" name="Rectangle 7"/>
          <p:cNvSpPr/>
          <p:nvPr/>
        </p:nvSpPr>
        <p:spPr>
          <a:xfrm>
            <a:off x="6400800" y="2331720"/>
            <a:ext cx="5486400" cy="457200"/>
          </a:xfrm>
          <a:prstGeom prst="rect">
            <a:avLst/>
          </a:prstGeom>
          <a:solidFill>
            <a:srgbClr val="F5F7FA"/>
          </a:solidFill>
          <a:ln w="6350">
            <a:solidFill>
              <a:srgbClr val="555B66"/>
            </a:solidFill>
          </a:ln>
        </p:spPr>
        <p:style>
          <a:lnRef idx="1">
            <a:schemeClr val="accent1"/>
          </a:lnRef>
          <a:fillRef idx="3">
            <a:schemeClr val="accent1"/>
          </a:fillRef>
          <a:effectRef idx="2">
            <a:schemeClr val="accent1"/>
          </a:effectRef>
          <a:fontRef idx="minor">
            <a:schemeClr val="lt1"/>
          </a:fontRef>
        </p:style>
        <p:txBody>
          <a:bodyPr rtlCol="0" anchor="ctr" lIns="182880"/>
          <a:lstStyle/>
          <a:p>
            <a:pPr algn="ctr">
              <a:defRPr sz="1500">
                <a:solidFill>
                  <a:srgbClr val="0B2A4A"/>
                </a:solidFill>
              </a:defRPr>
            </a:pPr>
            <a:r>
              <a:t>  2.   Avignon                              87,8</a:t>
            </a:r>
          </a:p>
        </p:txBody>
      </p:sp>
      <p:sp>
        <p:nvSpPr>
          <p:cNvPr id="9" name="Rectangle 8"/>
          <p:cNvSpPr/>
          <p:nvPr/>
        </p:nvSpPr>
        <p:spPr>
          <a:xfrm>
            <a:off x="6400800" y="2834640"/>
            <a:ext cx="5486400" cy="457200"/>
          </a:xfrm>
          <a:prstGeom prst="rect">
            <a:avLst/>
          </a:prstGeom>
          <a:solidFill>
            <a:srgbClr val="FFFFFF"/>
          </a:solidFill>
          <a:ln w="6350">
            <a:solidFill>
              <a:srgbClr val="555B66"/>
            </a:solidFill>
          </a:ln>
        </p:spPr>
        <p:style>
          <a:lnRef idx="1">
            <a:schemeClr val="accent1"/>
          </a:lnRef>
          <a:fillRef idx="3">
            <a:schemeClr val="accent1"/>
          </a:fillRef>
          <a:effectRef idx="2">
            <a:schemeClr val="accent1"/>
          </a:effectRef>
          <a:fontRef idx="minor">
            <a:schemeClr val="lt1"/>
          </a:fontRef>
        </p:style>
        <p:txBody>
          <a:bodyPr rtlCol="0" anchor="ctr" lIns="182880"/>
          <a:lstStyle/>
          <a:p>
            <a:pPr algn="ctr">
              <a:defRPr sz="1500">
                <a:solidFill>
                  <a:srgbClr val="0B2A4A"/>
                </a:solidFill>
              </a:defRPr>
            </a:pPr>
            <a:r>
              <a:t>  3.   Marseille                            86,7</a:t>
            </a:r>
          </a:p>
        </p:txBody>
      </p:sp>
      <p:sp>
        <p:nvSpPr>
          <p:cNvPr id="10" name="Rectangle 9"/>
          <p:cNvSpPr/>
          <p:nvPr/>
        </p:nvSpPr>
        <p:spPr>
          <a:xfrm>
            <a:off x="6400800" y="3337560"/>
            <a:ext cx="5486400" cy="457200"/>
          </a:xfrm>
          <a:prstGeom prst="rect">
            <a:avLst/>
          </a:prstGeom>
          <a:solidFill>
            <a:srgbClr val="F5F7FA"/>
          </a:solidFill>
          <a:ln w="6350">
            <a:solidFill>
              <a:srgbClr val="555B66"/>
            </a:solidFill>
          </a:ln>
        </p:spPr>
        <p:style>
          <a:lnRef idx="1">
            <a:schemeClr val="accent1"/>
          </a:lnRef>
          <a:fillRef idx="3">
            <a:schemeClr val="accent1"/>
          </a:fillRef>
          <a:effectRef idx="2">
            <a:schemeClr val="accent1"/>
          </a:effectRef>
          <a:fontRef idx="minor">
            <a:schemeClr val="lt1"/>
          </a:fontRef>
        </p:style>
        <p:txBody>
          <a:bodyPr rtlCol="0" anchor="ctr" lIns="182880"/>
          <a:lstStyle/>
          <a:p>
            <a:pPr algn="ctr">
              <a:defRPr sz="1500">
                <a:solidFill>
                  <a:srgbClr val="0B2A4A"/>
                </a:solidFill>
              </a:defRPr>
            </a:pPr>
            <a:r>
              <a:t>  4.   Paris                                85,5</a:t>
            </a:r>
          </a:p>
        </p:txBody>
      </p:sp>
      <p:sp>
        <p:nvSpPr>
          <p:cNvPr id="11" name="Rectangle 10"/>
          <p:cNvSpPr/>
          <p:nvPr/>
        </p:nvSpPr>
        <p:spPr>
          <a:xfrm>
            <a:off x="6400800" y="3840480"/>
            <a:ext cx="5486400" cy="457200"/>
          </a:xfrm>
          <a:prstGeom prst="rect">
            <a:avLst/>
          </a:prstGeom>
          <a:solidFill>
            <a:srgbClr val="FFFFFF"/>
          </a:solidFill>
          <a:ln w="6350">
            <a:solidFill>
              <a:srgbClr val="555B66"/>
            </a:solidFill>
          </a:ln>
        </p:spPr>
        <p:style>
          <a:lnRef idx="1">
            <a:schemeClr val="accent1"/>
          </a:lnRef>
          <a:fillRef idx="3">
            <a:schemeClr val="accent1"/>
          </a:fillRef>
          <a:effectRef idx="2">
            <a:schemeClr val="accent1"/>
          </a:effectRef>
          <a:fontRef idx="minor">
            <a:schemeClr val="lt1"/>
          </a:fontRef>
        </p:style>
        <p:txBody>
          <a:bodyPr rtlCol="0" anchor="ctr" lIns="182880"/>
          <a:lstStyle/>
          <a:p>
            <a:pPr algn="ctr">
              <a:defRPr sz="1500">
                <a:solidFill>
                  <a:srgbClr val="0B2A4A"/>
                </a:solidFill>
              </a:defRPr>
            </a:pPr>
            <a:r>
              <a:t>  5.   Grenoble                             82,3</a:t>
            </a:r>
          </a:p>
        </p:txBody>
      </p:sp>
      <p:sp>
        <p:nvSpPr>
          <p:cNvPr id="12" name="TextBox 11"/>
          <p:cNvSpPr txBox="1"/>
          <p:nvPr/>
        </p:nvSpPr>
        <p:spPr>
          <a:xfrm>
            <a:off x="457200" y="5029200"/>
            <a:ext cx="11430000" cy="1371600"/>
          </a:xfrm>
          <a:prstGeom prst="rect">
            <a:avLst/>
          </a:prstGeom>
          <a:noFill/>
        </p:spPr>
        <p:txBody>
          <a:bodyPr wrap="square">
            <a:spAutoFit/>
          </a:bodyPr>
          <a:lstStyle/>
          <a:p>
            <a:pPr>
              <a:spcAft>
                <a:spcPts val="600"/>
              </a:spcAft>
              <a:defRPr sz="1300">
                <a:solidFill>
                  <a:srgbClr val="555B66"/>
                </a:solidFill>
              </a:defRPr>
            </a:pPr>
            <a:r>
              <a:t>• Lecture : le score privilégie les villes chaudes et sèches sur la fenêtre 5 jours.</a:t>
            </a:r>
          </a:p>
          <a:p>
            <a:pPr>
              <a:spcAft>
                <a:spcPts val="600"/>
              </a:spcAft>
              <a:defRPr sz="1300">
                <a:solidFill>
                  <a:srgbClr val="555B66"/>
                </a:solidFill>
              </a:defRPr>
            </a:pPr>
            <a:r>
              <a:t>• Dominante Sud / Sud-Est cohérente avec un printemps méditerranéen.</a:t>
            </a:r>
          </a:p>
          <a:p>
            <a:pPr>
              <a:spcAft>
                <a:spcPts val="600"/>
              </a:spcAft>
              <a:defRPr sz="1300">
                <a:solidFill>
                  <a:srgbClr val="555B66"/>
                </a:solidFill>
              </a:defRPr>
            </a:pPr>
            <a:r>
              <a:t>• Limite assumée : pas de saisonnalité, pas de prix hôtels — voir « pour aller plus loin ».</a:t>
            </a:r>
          </a:p>
        </p:txBody>
      </p:sp>
      <p:sp>
        <p:nvSpPr>
          <p:cNvPr id="13" name="TextBox 12"/>
          <p:cNvSpPr txBox="1"/>
          <p:nvPr/>
        </p:nvSpPr>
        <p:spPr>
          <a:xfrm>
            <a:off x="365760" y="6446520"/>
            <a:ext cx="11430000" cy="320040"/>
          </a:xfrm>
          <a:prstGeom prst="rect">
            <a:avLst/>
          </a:prstGeom>
          <a:noFill/>
        </p:spPr>
        <p:txBody>
          <a:bodyPr wrap="none">
            <a:spAutoFit/>
          </a:bodyPr>
          <a:lstStyle/>
          <a:p>
            <a:pPr>
              <a:defRPr sz="1000">
                <a:solidFill>
                  <a:srgbClr val="555B66"/>
                </a:solidFill>
              </a:defRPr>
            </a:pPr>
            <a:r>
              <a:t>Aymeric Lahonde — CDSD Jedha 2026 — Bloc 1 Kayak</a:t>
            </a:r>
          </a:p>
          <a:p/>
        </p:txBody>
      </p:sp>
      <p:sp>
        <p:nvSpPr>
          <p:cNvPr id="14" name="TextBox 13"/>
          <p:cNvSpPr txBox="1"/>
          <p:nvPr/>
        </p:nvSpPr>
        <p:spPr>
          <a:xfrm>
            <a:off x="10972800" y="6446520"/>
            <a:ext cx="1097280" cy="320040"/>
          </a:xfrm>
          <a:prstGeom prst="rect">
            <a:avLst/>
          </a:prstGeom>
          <a:noFill/>
        </p:spPr>
        <p:txBody>
          <a:bodyPr wrap="none">
            <a:spAutoFit/>
          </a:bodyPr>
          <a:lstStyle/>
          <a:p>
            <a:pPr algn="r">
              <a:defRPr sz="1000">
                <a:solidFill>
                  <a:srgbClr val="555B66"/>
                </a:solidFill>
              </a:defRPr>
            </a:pPr>
            <a:r>
              <a:t>4 / 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lIns="457200" tIns="137160"/>
          <a:lstStyle/>
          <a:p>
            <a:pPr algn="ctr">
              <a:defRPr sz="2800" b="1">
                <a:solidFill>
                  <a:srgbClr val="FFFFFF"/>
                </a:solidFill>
              </a:defRPr>
            </a:pPr>
            <a:r>
              <a:t>Stockage AWS — S3 Data Lake + RDS Data Warehouse</a:t>
            </a:r>
          </a:p>
          <a:p>
            <a:pPr>
              <a:defRPr sz="1400">
                <a:solidFill>
                  <a:srgbClr val="E87A1E"/>
                </a:solidFill>
              </a:defRPr>
            </a:pPr>
            <a:r>
              <a:t>Architecture cloud du Bloc 1</a:t>
            </a:r>
          </a:p>
        </p:txBody>
      </p:sp>
      <p:sp>
        <p:nvSpPr>
          <p:cNvPr id="4" name="Rounded Rectangle 3"/>
          <p:cNvSpPr/>
          <p:nvPr/>
        </p:nvSpPr>
        <p:spPr>
          <a:xfrm>
            <a:off x="457200" y="1280160"/>
            <a:ext cx="5486400" cy="2560320"/>
          </a:xfrm>
          <a:prstGeom prst="roundRect">
            <a:avLst/>
          </a:prstGeom>
          <a:solidFill>
            <a:srgbClr val="FFFFFF"/>
          </a:solidFill>
          <a:ln w="25400">
            <a:solidFill>
              <a:srgbClr val="E87A1E"/>
            </a:solidFill>
          </a:ln>
        </p:spPr>
        <p:style>
          <a:lnRef idx="1">
            <a:schemeClr val="accent1"/>
          </a:lnRef>
          <a:fillRef idx="3">
            <a:schemeClr val="accent1"/>
          </a:fillRef>
          <a:effectRef idx="2">
            <a:schemeClr val="accent1"/>
          </a:effectRef>
          <a:fontRef idx="minor">
            <a:schemeClr val="lt1"/>
          </a:fontRef>
        </p:style>
        <p:txBody>
          <a:bodyPr rtlCol="0" anchor="ctr" lIns="274320" tIns="182880"/>
          <a:lstStyle/>
          <a:p>
            <a:pPr algn="ctr">
              <a:defRPr sz="2000" b="1">
                <a:solidFill>
                  <a:srgbClr val="E87A1E"/>
                </a:solidFill>
              </a:defRPr>
            </a:pPr>
            <a:r>
              <a:t>AWS S3  —  Data Lake</a:t>
            </a:r>
          </a:p>
          <a:p>
            <a:pPr>
              <a:spcBef>
                <a:spcPts val="200"/>
              </a:spcBef>
              <a:defRPr sz="1400">
                <a:solidFill>
                  <a:srgbClr val="0B2A4A"/>
                </a:solidFill>
              </a:defRPr>
            </a:pPr>
            <a:r>
              <a:t>Bucket  s3://kayak-jedha-aymeric/raw/</a:t>
            </a:r>
          </a:p>
          <a:p>
            <a:pPr>
              <a:spcBef>
                <a:spcPts val="200"/>
              </a:spcBef>
              <a:defRPr sz="1400">
                <a:solidFill>
                  <a:srgbClr val="0B2A4A"/>
                </a:solidFill>
              </a:defRPr>
            </a:pPr>
            <a:r>
              <a:t>4 fichiers CSV bruts  ·  ~137 KB total</a:t>
            </a:r>
          </a:p>
          <a:p>
            <a:pPr>
              <a:spcBef>
                <a:spcPts val="200"/>
              </a:spcBef>
              <a:defRPr sz="1300">
                <a:solidFill>
                  <a:srgbClr val="555B66"/>
                </a:solidFill>
              </a:defRPr>
            </a:pPr>
            <a:r>
              <a:t>    cities_coords.csv  (35 lignes)</a:t>
            </a:r>
          </a:p>
          <a:p>
            <a:pPr>
              <a:spcBef>
                <a:spcPts val="200"/>
              </a:spcBef>
              <a:defRPr sz="1300">
                <a:solidFill>
                  <a:srgbClr val="555B66"/>
                </a:solidFill>
              </a:defRPr>
            </a:pPr>
            <a:r>
              <a:t>    weather_cities.csv  (35 lignes agrégées)</a:t>
            </a:r>
          </a:p>
          <a:p>
            <a:pPr>
              <a:spcBef>
                <a:spcPts val="200"/>
              </a:spcBef>
              <a:defRPr sz="1300">
                <a:solidFill>
                  <a:srgbClr val="555B66"/>
                </a:solidFill>
              </a:defRPr>
            </a:pPr>
            <a:r>
              <a:t>    weather_daily_detail.csv  (175 lignes)</a:t>
            </a:r>
          </a:p>
          <a:p>
            <a:pPr>
              <a:spcBef>
                <a:spcPts val="200"/>
              </a:spcBef>
              <a:defRPr sz="1300">
                <a:solidFill>
                  <a:srgbClr val="555B66"/>
                </a:solidFill>
              </a:defRPr>
            </a:pPr>
            <a:r>
              <a:t>    hotels_booking.csv  (679 lignes)</a:t>
            </a:r>
          </a:p>
          <a:p>
            <a:pPr>
              <a:spcBef>
                <a:spcPts val="200"/>
              </a:spcBef>
              <a:defRPr sz="1400">
                <a:solidFill>
                  <a:srgbClr val="0B2A4A"/>
                </a:solidFill>
              </a:defRPr>
            </a:pPr>
            <a:r>
              <a:t>Versioning ON  ·  Server-side encryption</a:t>
            </a:r>
          </a:p>
        </p:txBody>
      </p:sp>
      <p:sp>
        <p:nvSpPr>
          <p:cNvPr id="5" name="Rounded Rectangle 4"/>
          <p:cNvSpPr/>
          <p:nvPr/>
        </p:nvSpPr>
        <p:spPr>
          <a:xfrm>
            <a:off x="6245352" y="1280160"/>
            <a:ext cx="5486400" cy="2560320"/>
          </a:xfrm>
          <a:prstGeom prst="roundRect">
            <a:avLst/>
          </a:prstGeom>
          <a:solidFill>
            <a:srgbClr val="FFFFFF"/>
          </a:solidFill>
          <a:ln w="25400">
            <a:solidFill>
              <a:srgbClr val="0B2A4A"/>
            </a:solidFill>
          </a:ln>
        </p:spPr>
        <p:style>
          <a:lnRef idx="1">
            <a:schemeClr val="accent1"/>
          </a:lnRef>
          <a:fillRef idx="3">
            <a:schemeClr val="accent1"/>
          </a:fillRef>
          <a:effectRef idx="2">
            <a:schemeClr val="accent1"/>
          </a:effectRef>
          <a:fontRef idx="minor">
            <a:schemeClr val="lt1"/>
          </a:fontRef>
        </p:style>
        <p:txBody>
          <a:bodyPr rtlCol="0" anchor="ctr" lIns="274320" tIns="182880"/>
          <a:lstStyle/>
          <a:p>
            <a:pPr algn="ctr">
              <a:defRPr sz="2000" b="1">
                <a:solidFill>
                  <a:srgbClr val="0B2A4A"/>
                </a:solidFill>
              </a:defRPr>
            </a:pPr>
            <a:r>
              <a:t>AWS RDS PostgreSQL  —  Data Warehouse</a:t>
            </a:r>
          </a:p>
          <a:p>
            <a:pPr>
              <a:spcBef>
                <a:spcPts val="200"/>
              </a:spcBef>
              <a:defRPr sz="1400">
                <a:solidFill>
                  <a:srgbClr val="0B2A4A"/>
                </a:solidFill>
              </a:defRPr>
            </a:pPr>
            <a:r>
              <a:t>Instance  db.t3.micro  ·  20 GB gp2</a:t>
            </a:r>
          </a:p>
          <a:p>
            <a:pPr>
              <a:spcBef>
                <a:spcPts val="200"/>
              </a:spcBef>
              <a:defRPr sz="1400">
                <a:solidFill>
                  <a:srgbClr val="0B2A4A"/>
                </a:solidFill>
              </a:defRPr>
            </a:pPr>
            <a:r>
              <a:t>Free tier 12 mois  ·  PostgreSQL 16</a:t>
            </a:r>
          </a:p>
          <a:p>
            <a:pPr>
              <a:spcBef>
                <a:spcPts val="200"/>
              </a:spcBef>
              <a:defRPr sz="1400">
                <a:solidFill>
                  <a:srgbClr val="0B2A4A"/>
                </a:solidFill>
              </a:defRPr>
            </a:pPr>
            <a:r>
              <a:t>2 tables nettoyées :</a:t>
            </a:r>
          </a:p>
          <a:p>
            <a:pPr>
              <a:spcBef>
                <a:spcPts val="200"/>
              </a:spcBef>
              <a:defRPr sz="1300">
                <a:solidFill>
                  <a:srgbClr val="555B66"/>
                </a:solidFill>
              </a:defRPr>
            </a:pPr>
            <a:r>
              <a:t>    cities_weather  (35 lignes, PK city_id)</a:t>
            </a:r>
          </a:p>
          <a:p>
            <a:pPr>
              <a:spcBef>
                <a:spcPts val="200"/>
              </a:spcBef>
              <a:defRPr sz="1300">
                <a:solidFill>
                  <a:srgbClr val="555B66"/>
                </a:solidFill>
              </a:defRPr>
            </a:pPr>
            <a:r>
              <a:t>    hotels  (679 lignes, FK city_id)</a:t>
            </a:r>
          </a:p>
          <a:p>
            <a:pPr>
              <a:spcBef>
                <a:spcPts val="200"/>
              </a:spcBef>
              <a:defRPr sz="1400">
                <a:solidFill>
                  <a:srgbClr val="0B2A4A"/>
                </a:solidFill>
              </a:defRPr>
            </a:pPr>
            <a:r>
              <a:t>Chiffrement SSL  ·  password fort</a:t>
            </a:r>
          </a:p>
          <a:p>
            <a:pPr>
              <a:spcBef>
                <a:spcPts val="200"/>
              </a:spcBef>
              <a:defRPr sz="1400">
                <a:solidFill>
                  <a:srgbClr val="0B2A4A"/>
                </a:solidFill>
              </a:defRPr>
            </a:pPr>
            <a:r>
              <a:t>Connexion testée depuis notebook 02</a:t>
            </a:r>
          </a:p>
        </p:txBody>
      </p:sp>
      <p:sp>
        <p:nvSpPr>
          <p:cNvPr id="6" name="TextBox 5"/>
          <p:cNvSpPr txBox="1"/>
          <p:nvPr/>
        </p:nvSpPr>
        <p:spPr>
          <a:xfrm>
            <a:off x="457200" y="4114800"/>
            <a:ext cx="11430000" cy="2286000"/>
          </a:xfrm>
          <a:prstGeom prst="rect">
            <a:avLst/>
          </a:prstGeom>
          <a:noFill/>
        </p:spPr>
        <p:txBody>
          <a:bodyPr wrap="square">
            <a:spAutoFit/>
          </a:bodyPr>
          <a:lstStyle/>
          <a:p>
            <a:pPr>
              <a:spcAft>
                <a:spcPts val="600"/>
              </a:spcAft>
              <a:defRPr sz="1400" b="1">
                <a:solidFill>
                  <a:srgbClr val="0B2A4A"/>
                </a:solidFill>
              </a:defRPr>
            </a:pPr>
            <a:r>
              <a:t>Livrables vérifiés</a:t>
            </a:r>
          </a:p>
          <a:p>
            <a:pPr>
              <a:spcAft>
                <a:spcPts val="600"/>
              </a:spcAft>
              <a:defRPr sz="1400">
                <a:solidFill>
                  <a:srgbClr val="0B2A4A"/>
                </a:solidFill>
              </a:defRPr>
            </a:pPr>
            <a:r>
              <a:t>1 bucket S3 avec les CSV enrichis (météo + hôtels) par ville</a:t>
            </a:r>
          </a:p>
          <a:p>
            <a:pPr>
              <a:spcAft>
                <a:spcPts val="600"/>
              </a:spcAft>
              <a:defRPr sz="1400">
                <a:solidFill>
                  <a:srgbClr val="0B2A4A"/>
                </a:solidFill>
              </a:defRPr>
            </a:pPr>
            <a:r>
              <a:t>1 base SQL RDS où on retrouve ces mêmes données nettoyées</a:t>
            </a:r>
          </a:p>
          <a:p>
            <a:pPr>
              <a:spcAft>
                <a:spcPts val="600"/>
              </a:spcAft>
              <a:defRPr sz="1400">
                <a:solidFill>
                  <a:srgbClr val="0B2A4A"/>
                </a:solidFill>
              </a:defRPr>
            </a:pPr>
            <a:r>
              <a:t>2 cartes Plotly  :  map_destinations.html  +  map_hotels.html</a:t>
            </a:r>
          </a:p>
          <a:p>
            <a:pPr>
              <a:spcAft>
                <a:spcPts val="600"/>
              </a:spcAft>
              <a:defRPr sz="1400">
                <a:solidFill>
                  <a:srgbClr val="0B2A4A"/>
                </a:solidFill>
              </a:defRPr>
            </a:pPr>
          </a:p>
          <a:p>
            <a:pPr>
              <a:spcAft>
                <a:spcPts val="600"/>
              </a:spcAft>
              <a:defRPr sz="1400">
                <a:solidFill>
                  <a:srgbClr val="0B2A4A"/>
                </a:solidFill>
              </a:defRPr>
            </a:pPr>
            <a:r>
              <a:t>Coût mensuel  :  0 € (free tier 12 mois)  →  ≈ 13 €/mois après free tier</a:t>
            </a:r>
          </a:p>
        </p:txBody>
      </p:sp>
      <p:sp>
        <p:nvSpPr>
          <p:cNvPr id="7" name="TextBox 6"/>
          <p:cNvSpPr txBox="1"/>
          <p:nvPr/>
        </p:nvSpPr>
        <p:spPr>
          <a:xfrm>
            <a:off x="365760" y="6446520"/>
            <a:ext cx="11430000" cy="320040"/>
          </a:xfrm>
          <a:prstGeom prst="rect">
            <a:avLst/>
          </a:prstGeom>
          <a:noFill/>
        </p:spPr>
        <p:txBody>
          <a:bodyPr wrap="none">
            <a:spAutoFit/>
          </a:bodyPr>
          <a:lstStyle/>
          <a:p>
            <a:pPr>
              <a:defRPr sz="1000">
                <a:solidFill>
                  <a:srgbClr val="555B66"/>
                </a:solidFill>
              </a:defRPr>
            </a:pPr>
            <a:r>
              <a:t>Aymeric Lahonde — CDSD Jedha 2026 — Bloc 1 Kayak</a:t>
            </a:r>
          </a:p>
          <a:p/>
        </p:txBody>
      </p:sp>
      <p:sp>
        <p:nvSpPr>
          <p:cNvPr id="8" name="TextBox 7"/>
          <p:cNvSpPr txBox="1"/>
          <p:nvPr/>
        </p:nvSpPr>
        <p:spPr>
          <a:xfrm>
            <a:off x="10972800" y="6446520"/>
            <a:ext cx="1097280" cy="320040"/>
          </a:xfrm>
          <a:prstGeom prst="rect">
            <a:avLst/>
          </a:prstGeom>
          <a:noFill/>
        </p:spPr>
        <p:txBody>
          <a:bodyPr wrap="none">
            <a:spAutoFit/>
          </a:bodyPr>
          <a:lstStyle/>
          <a:p>
            <a:pPr algn="r">
              <a:defRPr sz="1000">
                <a:solidFill>
                  <a:srgbClr val="555B66"/>
                </a:solidFill>
              </a:defRPr>
            </a:pPr>
            <a:r>
              <a:t>5 / 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lIns="457200" tIns="137160"/>
          <a:lstStyle/>
          <a:p>
            <a:pPr algn="ctr">
              <a:defRPr sz="2800" b="1">
                <a:solidFill>
                  <a:srgbClr val="FFFFFF"/>
                </a:solidFill>
              </a:defRPr>
            </a:pPr>
            <a:r>
              <a:t>Conclusion &amp; perspectives</a:t>
            </a:r>
          </a:p>
          <a:p>
            <a:pPr>
              <a:defRPr sz="1400">
                <a:solidFill>
                  <a:srgbClr val="E87A1E"/>
                </a:solidFill>
              </a:defRPr>
            </a:pPr>
            <a:r>
              <a:t>Ce que j'ai appris  ·  Ce que je ferais différemment en prod</a:t>
            </a:r>
          </a:p>
        </p:txBody>
      </p:sp>
      <p:sp>
        <p:nvSpPr>
          <p:cNvPr id="4" name="TextBox 3"/>
          <p:cNvSpPr txBox="1"/>
          <p:nvPr/>
        </p:nvSpPr>
        <p:spPr>
          <a:xfrm>
            <a:off x="457200" y="1280160"/>
            <a:ext cx="5486400" cy="457200"/>
          </a:xfrm>
          <a:prstGeom prst="rect">
            <a:avLst/>
          </a:prstGeom>
          <a:noFill/>
        </p:spPr>
        <p:txBody>
          <a:bodyPr wrap="square">
            <a:spAutoFit/>
          </a:bodyPr>
          <a:lstStyle/>
          <a:p>
            <a:pPr>
              <a:spcAft>
                <a:spcPts val="600"/>
              </a:spcAft>
              <a:defRPr sz="2000" b="1">
                <a:solidFill>
                  <a:srgbClr val="E87A1E"/>
                </a:solidFill>
              </a:defRPr>
            </a:pPr>
            <a:r>
              <a:t>Acquis du Bloc 1</a:t>
            </a:r>
          </a:p>
        </p:txBody>
      </p:sp>
      <p:sp>
        <p:nvSpPr>
          <p:cNvPr id="5" name="Rounded Rectangle 4"/>
          <p:cNvSpPr/>
          <p:nvPr/>
        </p:nvSpPr>
        <p:spPr>
          <a:xfrm>
            <a:off x="457200" y="1828800"/>
            <a:ext cx="5486400" cy="4114800"/>
          </a:xfrm>
          <a:prstGeom prst="roundRect">
            <a:avLst/>
          </a:prstGeom>
          <a:solidFill>
            <a:srgbClr val="FFFFFF"/>
          </a:solidFill>
          <a:ln w="19050">
            <a:solidFill>
              <a:srgbClr val="E87A1E"/>
            </a:solidFill>
          </a:ln>
        </p:spPr>
        <p:style>
          <a:lnRef idx="1">
            <a:schemeClr val="accent1"/>
          </a:lnRef>
          <a:fillRef idx="3">
            <a:schemeClr val="accent1"/>
          </a:fillRef>
          <a:effectRef idx="2">
            <a:schemeClr val="accent1"/>
          </a:effectRef>
          <a:fontRef idx="minor">
            <a:schemeClr val="lt1"/>
          </a:fontRef>
        </p:style>
        <p:txBody>
          <a:bodyPr rtlCol="0" anchor="ctr" lIns="274320" tIns="182880"/>
          <a:lstStyle/>
          <a:p>
            <a:pPr algn="ctr">
              <a:spcBef>
                <a:spcPts val="600"/>
              </a:spcBef>
              <a:defRPr sz="1400">
                <a:solidFill>
                  <a:srgbClr val="0B2A4A"/>
                </a:solidFill>
              </a:defRPr>
            </a:pPr>
            <a:r>
              <a:t>✓  Pipeline ETL bout-en-bout fonctionnel</a:t>
            </a:r>
          </a:p>
          <a:p>
            <a:pPr>
              <a:spcBef>
                <a:spcPts val="600"/>
              </a:spcBef>
              <a:defRPr sz="1400">
                <a:solidFill>
                  <a:srgbClr val="0B2A4A"/>
                </a:solidFill>
              </a:defRPr>
            </a:pPr>
            <a:r>
              <a:t>✓  Scraping site dynamique (Selenium)</a:t>
            </a:r>
          </a:p>
          <a:p>
            <a:pPr>
              <a:spcBef>
                <a:spcPts val="600"/>
              </a:spcBef>
              <a:defRPr sz="1400">
                <a:solidFill>
                  <a:srgbClr val="0B2A4A"/>
                </a:solidFill>
              </a:defRPr>
            </a:pPr>
            <a:r>
              <a:t>✓  Géocodage + appel API REST avec gestion d'erreurs</a:t>
            </a:r>
          </a:p>
          <a:p>
            <a:pPr>
              <a:spcBef>
                <a:spcPts val="600"/>
              </a:spcBef>
              <a:defRPr sz="1400">
                <a:solidFill>
                  <a:srgbClr val="0B2A4A"/>
                </a:solidFill>
              </a:defRPr>
            </a:pPr>
            <a:r>
              <a:t>✓  Stockage cloud S3 + RDS PostgreSQL</a:t>
            </a:r>
          </a:p>
          <a:p>
            <a:pPr>
              <a:spcBef>
                <a:spcPts val="600"/>
              </a:spcBef>
              <a:defRPr sz="1400">
                <a:solidFill>
                  <a:srgbClr val="0B2A4A"/>
                </a:solidFill>
              </a:defRPr>
            </a:pPr>
            <a:r>
              <a:t>✓  Modélisation relationnelle (PK / FK)</a:t>
            </a:r>
          </a:p>
          <a:p>
            <a:pPr>
              <a:spcBef>
                <a:spcPts val="600"/>
              </a:spcBef>
              <a:defRPr sz="1400">
                <a:solidFill>
                  <a:srgbClr val="0B2A4A"/>
                </a:solidFill>
              </a:defRPr>
            </a:pPr>
            <a:r>
              <a:t>✓  Restitution Plotly interactive (cartes HTML)</a:t>
            </a:r>
          </a:p>
          <a:p>
            <a:pPr>
              <a:spcBef>
                <a:spcPts val="600"/>
              </a:spcBef>
              <a:defRPr sz="1400">
                <a:solidFill>
                  <a:srgbClr val="0B2A4A"/>
                </a:solidFill>
              </a:defRPr>
            </a:pPr>
            <a:r>
              <a:t>✓  Reproductibilité  :  requirements.txt + .env.example + README</a:t>
            </a:r>
          </a:p>
        </p:txBody>
      </p:sp>
      <p:sp>
        <p:nvSpPr>
          <p:cNvPr id="6" name="TextBox 5"/>
          <p:cNvSpPr txBox="1"/>
          <p:nvPr/>
        </p:nvSpPr>
        <p:spPr>
          <a:xfrm>
            <a:off x="6400800" y="1280160"/>
            <a:ext cx="5486400" cy="457200"/>
          </a:xfrm>
          <a:prstGeom prst="rect">
            <a:avLst/>
          </a:prstGeom>
          <a:noFill/>
        </p:spPr>
        <p:txBody>
          <a:bodyPr wrap="square">
            <a:spAutoFit/>
          </a:bodyPr>
          <a:lstStyle/>
          <a:p>
            <a:pPr>
              <a:spcAft>
                <a:spcPts val="600"/>
              </a:spcAft>
              <a:defRPr sz="2000" b="1">
                <a:solidFill>
                  <a:srgbClr val="0B2A4A"/>
                </a:solidFill>
              </a:defRPr>
            </a:pPr>
            <a:r>
              <a:t>Pour aller en prod chez Kayak</a:t>
            </a:r>
          </a:p>
        </p:txBody>
      </p:sp>
      <p:sp>
        <p:nvSpPr>
          <p:cNvPr id="7" name="Rounded Rectangle 6"/>
          <p:cNvSpPr/>
          <p:nvPr/>
        </p:nvSpPr>
        <p:spPr>
          <a:xfrm>
            <a:off x="6400800" y="1828800"/>
            <a:ext cx="5486400" cy="4114800"/>
          </a:xfrm>
          <a:prstGeom prst="roundRect">
            <a:avLst/>
          </a:prstGeom>
          <a:solidFill>
            <a:srgbClr val="FFFFFF"/>
          </a:solidFill>
          <a:ln w="19050">
            <a:solidFill>
              <a:srgbClr val="0B2A4A"/>
            </a:solidFill>
          </a:ln>
        </p:spPr>
        <p:style>
          <a:lnRef idx="1">
            <a:schemeClr val="accent1"/>
          </a:lnRef>
          <a:fillRef idx="3">
            <a:schemeClr val="accent1"/>
          </a:fillRef>
          <a:effectRef idx="2">
            <a:schemeClr val="accent1"/>
          </a:effectRef>
          <a:fontRef idx="minor">
            <a:schemeClr val="lt1"/>
          </a:fontRef>
        </p:style>
        <p:txBody>
          <a:bodyPr rtlCol="0" anchor="ctr" lIns="274320" tIns="182880"/>
          <a:lstStyle/>
          <a:p>
            <a:pPr algn="ctr">
              <a:spcBef>
                <a:spcPts val="600"/>
              </a:spcBef>
              <a:defRPr sz="1400">
                <a:solidFill>
                  <a:srgbClr val="0B2A4A"/>
                </a:solidFill>
              </a:defRPr>
            </a:pPr>
            <a:r>
              <a:t>→  Orchestration  :  Airflow ou Step Functions (cron quotidien)</a:t>
            </a:r>
          </a:p>
          <a:p>
            <a:pPr>
              <a:spcBef>
                <a:spcPts val="600"/>
              </a:spcBef>
              <a:defRPr sz="1400">
                <a:solidFill>
                  <a:srgbClr val="0B2A4A"/>
                </a:solidFill>
              </a:defRPr>
            </a:pPr>
            <a:r>
              <a:t>→  Sécurité  :  IAM role EC2 → fini les credentials dans .env</a:t>
            </a:r>
          </a:p>
          <a:p>
            <a:pPr>
              <a:spcBef>
                <a:spcPts val="600"/>
              </a:spcBef>
              <a:defRPr sz="1400">
                <a:solidFill>
                  <a:srgbClr val="0B2A4A"/>
                </a:solidFill>
              </a:defRPr>
            </a:pPr>
            <a:r>
              <a:t>→  Robustesse  :  retry exponentiel, alerting CloudWatch</a:t>
            </a:r>
          </a:p>
          <a:p>
            <a:pPr>
              <a:spcBef>
                <a:spcPts val="600"/>
              </a:spcBef>
              <a:defRPr sz="1400">
                <a:solidFill>
                  <a:srgbClr val="0B2A4A"/>
                </a:solidFill>
              </a:defRPr>
            </a:pPr>
            <a:r>
              <a:t>→  Versioning  :  S3 versioning ON pour rollback rapide</a:t>
            </a:r>
          </a:p>
          <a:p>
            <a:pPr>
              <a:spcBef>
                <a:spcPts val="600"/>
              </a:spcBef>
              <a:defRPr sz="1400">
                <a:solidFill>
                  <a:srgbClr val="0B2A4A"/>
                </a:solidFill>
              </a:defRPr>
            </a:pPr>
            <a:r>
              <a:t>→  Tests  :  unitaires sur le parsing + end-to-end</a:t>
            </a:r>
          </a:p>
          <a:p>
            <a:pPr>
              <a:spcBef>
                <a:spcPts val="600"/>
              </a:spcBef>
              <a:defRPr sz="1400">
                <a:solidFill>
                  <a:srgbClr val="0B2A4A"/>
                </a:solidFill>
              </a:defRPr>
            </a:pPr>
            <a:r>
              <a:t>→  Score météo  :  poids appris depuis comportements réels</a:t>
            </a:r>
          </a:p>
          <a:p>
            <a:pPr>
              <a:spcBef>
                <a:spcPts val="600"/>
              </a:spcBef>
              <a:defRPr sz="1400">
                <a:solidFill>
                  <a:srgbClr val="0B2A4A"/>
                </a:solidFill>
              </a:defRPr>
            </a:pPr>
            <a:r>
              <a:t>→  Élargir le périmètre  :  Europe, puis monde</a:t>
            </a:r>
          </a:p>
        </p:txBody>
      </p:sp>
      <p:sp>
        <p:nvSpPr>
          <p:cNvPr id="8" name="TextBox 7"/>
          <p:cNvSpPr txBox="1"/>
          <p:nvPr/>
        </p:nvSpPr>
        <p:spPr>
          <a:xfrm>
            <a:off x="457200" y="6126480"/>
            <a:ext cx="11430000" cy="457200"/>
          </a:xfrm>
          <a:prstGeom prst="rect">
            <a:avLst/>
          </a:prstGeom>
          <a:noFill/>
        </p:spPr>
        <p:txBody>
          <a:bodyPr wrap="none">
            <a:spAutoFit/>
          </a:bodyPr>
          <a:lstStyle/>
          <a:p>
            <a:pPr algn="ctr">
              <a:defRPr sz="1800" b="1">
                <a:solidFill>
                  <a:srgbClr val="E87A1E"/>
                </a:solidFill>
              </a:defRPr>
            </a:pPr>
            <a:r>
              <a:t>Merci pour votre attention  —  questions ?</a:t>
            </a:r>
          </a:p>
        </p:txBody>
      </p:sp>
      <p:sp>
        <p:nvSpPr>
          <p:cNvPr id="9" name="TextBox 8"/>
          <p:cNvSpPr txBox="1"/>
          <p:nvPr/>
        </p:nvSpPr>
        <p:spPr>
          <a:xfrm>
            <a:off x="365760" y="6446520"/>
            <a:ext cx="11430000" cy="320040"/>
          </a:xfrm>
          <a:prstGeom prst="rect">
            <a:avLst/>
          </a:prstGeom>
          <a:noFill/>
        </p:spPr>
        <p:txBody>
          <a:bodyPr wrap="none">
            <a:spAutoFit/>
          </a:bodyPr>
          <a:lstStyle/>
          <a:p>
            <a:pPr>
              <a:defRPr sz="1000">
                <a:solidFill>
                  <a:srgbClr val="555B66"/>
                </a:solidFill>
              </a:defRPr>
            </a:pPr>
            <a:r>
              <a:t>Aymeric Lahonde — CDSD Jedha 2026 — Bloc 1 Kayak</a:t>
            </a:r>
          </a:p>
          <a:p/>
        </p:txBody>
      </p:sp>
      <p:sp>
        <p:nvSpPr>
          <p:cNvPr id="10" name="TextBox 9"/>
          <p:cNvSpPr txBox="1"/>
          <p:nvPr/>
        </p:nvSpPr>
        <p:spPr>
          <a:xfrm>
            <a:off x="10972800" y="6446520"/>
            <a:ext cx="1097280" cy="320040"/>
          </a:xfrm>
          <a:prstGeom prst="rect">
            <a:avLst/>
          </a:prstGeom>
          <a:noFill/>
        </p:spPr>
        <p:txBody>
          <a:bodyPr wrap="none">
            <a:spAutoFit/>
          </a:bodyPr>
          <a:lstStyle/>
          <a:p>
            <a:pPr algn="r">
              <a:defRPr sz="1000">
                <a:solidFill>
                  <a:srgbClr val="555B66"/>
                </a:solidFill>
              </a:defRPr>
            </a:pPr>
            <a:r>
              <a:t>6 / 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
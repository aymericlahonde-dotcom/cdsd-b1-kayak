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0312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800" b="1">
                <a:solidFill>
                  <a:srgbClr val="1F3A5F"/>
                </a:solidFill>
                <a:latin typeface="Arial"/>
              </a:defRPr>
            </a:pPr>
            <a:r>
              <a:t>Plan your trip with Kayak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i="1">
                <a:solidFill>
                  <a:srgbClr val="7F7F7F"/>
                </a:solidFill>
                <a:latin typeface="Arial"/>
              </a:defRPr>
            </a:pPr>
            <a:r>
              <a:t>Recommander les meilleures destinations françaises selon la météo et les hôtels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22222"/>
                </a:solidFill>
              </a:defRPr>
            </a:pPr>
            <a:r>
              <a:t>Aymeric Lahonde</a:t>
            </a:r>
          </a:p>
          <a:p>
            <a:pPr>
              <a:defRPr sz="1400">
                <a:solidFill>
                  <a:srgbClr val="7F7F7F"/>
                </a:solidFill>
              </a:defRPr>
            </a:pPr>
            <a:r>
              <a:t>Bloc 1 — Construction et alimentation d'une infrastructure de gestion de données</a:t>
            </a:r>
          </a:p>
          <a:p>
            <a:pPr>
              <a:defRPr sz="1300">
                <a:solidFill>
                  <a:srgbClr val="7F7F7F"/>
                </a:solidFill>
              </a:defRPr>
            </a:pPr>
            <a:r>
              <a:t>Certification Jedha CDSD — RNCP35288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F7F7F"/>
                </a:solidFill>
              </a:defRPr>
            </a:pPr>
            <a:r>
              <a:t>Plan your trip with Kayak — Bloc 1 Jedha CDSD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7F7F"/>
                </a:solidFill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04A"/>
                </a:solidFill>
                <a:latin typeface="Arial"/>
              </a:defRPr>
            </a:pPr>
            <a:r>
              <a:t>ATTENTES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11430000" cy="200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A5F"/>
                </a:solidFill>
                <a:latin typeface="Arial"/>
              </a:defRPr>
            </a:pPr>
            <a:r>
              <a:t>Contexte &amp; Objectifs du projet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Arial"/>
              </a:defRPr>
            </a:pPr>
            <a:r>
              <a:t>• Kayak (Booking Holdings) : 300 M$ de revenus, plateforme de recherche voyages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Arial"/>
              </a:defRPr>
            </a:pPr>
            <a:r>
              <a:t>• Étude utilisateurs : 70 % veulent plus d'informations sur la destination avant de réserver</a:t>
            </a:r>
          </a:p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  <a:latin typeface="Arial"/>
              </a:defRPr>
            </a:pPr>
            <a:r>
              <a:t>• Méfiance vis-à-vis d'infos venant de sources inconnues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657600"/>
            <a:ext cx="11064240" cy="228600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A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defRPr sz="1600" b="1">
                <a:solidFill>
                  <a:srgbClr val="1F3A5F"/>
                </a:solidFill>
              </a:defRPr>
            </a:pPr>
            <a:r>
              <a:t>Objectif</a:t>
            </a:r>
          </a:p>
          <a:p>
            <a:pPr>
              <a:spcBef>
                <a:spcPts val="600"/>
              </a:spcBef>
              <a:defRPr sz="1400">
                <a:solidFill>
                  <a:srgbClr val="222222"/>
                </a:solidFill>
              </a:defRPr>
            </a:pPr>
            <a:r>
              <a:t>  → Construire un pipeline data complet : collecte → data lake → data warehouse → visualisation</a:t>
            </a:r>
          </a:p>
          <a:p>
            <a:pPr>
              <a:spcBef>
                <a:spcPts val="600"/>
              </a:spcBef>
              <a:defRPr sz="1400">
                <a:solidFill>
                  <a:srgbClr val="222222"/>
                </a:solidFill>
              </a:defRPr>
            </a:pPr>
            <a:r>
              <a:t>  → Recommander automatiquement les meilleures destinations &amp; hôtels pour les 35 plus belles villes de France</a:t>
            </a:r>
          </a:p>
          <a:p>
            <a:pPr>
              <a:spcBef>
                <a:spcPts val="600"/>
              </a:spcBef>
              <a:defRPr sz="1400">
                <a:solidFill>
                  <a:srgbClr val="222222"/>
                </a:solidFill>
              </a:defRPr>
            </a:pPr>
            <a:r>
              <a:t>  → Livrables : 1 CSV enrichi sur S3 · 1 base SQL sur RDS · 2 cartes interactives (Top-5 destinations + Top-20 hôtels)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F7F7F"/>
                </a:solidFill>
              </a:defRPr>
            </a:pPr>
            <a:r>
              <a:t>Plan your trip with Kayak — Bloc 1 Jedha CDSD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7F7F"/>
                </a:solidFill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04A"/>
                </a:solidFill>
                <a:latin typeface="Arial"/>
              </a:defRPr>
            </a:pPr>
            <a:r>
              <a:t>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11430000" cy="200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A5F"/>
                </a:solidFill>
                <a:latin typeface="Arial"/>
              </a:defRPr>
            </a:pPr>
            <a:r>
              <a:t>Pipeline Data End-to-End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76655" y="2103120"/>
            <a:ext cx="1691640" cy="1463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Nominatim</a:t>
            </a:r>
          </a:p>
          <a:p>
            <a:pPr algn="ctr"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Geocoding</a:t>
            </a:r>
            <a:br/>
            <a:r>
              <a:t>35 villes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2697479"/>
            <a:ext cx="118872" cy="274320"/>
          </a:xfrm>
          <a:prstGeom prst="rightArrow">
            <a:avLst/>
          </a:prstGeom>
          <a:solidFill>
            <a:srgbClr val="7F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05455" y="2103120"/>
            <a:ext cx="1691640" cy="146304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OpenWeather</a:t>
            </a:r>
          </a:p>
          <a:p>
            <a:pPr algn="ctr"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Météo 5 jours</a:t>
            </a:r>
            <a:br/>
            <a:r>
              <a:t>(API REST)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06240" y="2697479"/>
            <a:ext cx="118872" cy="274320"/>
          </a:xfrm>
          <a:prstGeom prst="rightArrow">
            <a:avLst/>
          </a:prstGeom>
          <a:solidFill>
            <a:srgbClr val="7F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4255" y="2103120"/>
            <a:ext cx="1691640" cy="1463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Booking.com</a:t>
            </a:r>
          </a:p>
          <a:p>
            <a:pPr algn="ctr"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Scraping</a:t>
            </a:r>
            <a:br/>
            <a:r>
              <a:t>(Selenium + BS4)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035040" y="2697479"/>
            <a:ext cx="118872" cy="274320"/>
          </a:xfrm>
          <a:prstGeom prst="rightArrow">
            <a:avLst/>
          </a:prstGeom>
          <a:solidFill>
            <a:srgbClr val="7F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63055" y="2103120"/>
            <a:ext cx="1691640" cy="146304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AWS S3</a:t>
            </a:r>
          </a:p>
          <a:p>
            <a:pPr algn="ctr"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Data Lake</a:t>
            </a:r>
            <a:br/>
            <a:r>
              <a:t>(CSV brut)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63840" y="2697479"/>
            <a:ext cx="118872" cy="274320"/>
          </a:xfrm>
          <a:prstGeom prst="rightArrow">
            <a:avLst/>
          </a:prstGeom>
          <a:solidFill>
            <a:srgbClr val="7F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91855" y="2103120"/>
            <a:ext cx="1691640" cy="146304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AWS RDS</a:t>
            </a:r>
          </a:p>
          <a:p>
            <a:pPr algn="ctr"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Data Warehouse</a:t>
            </a:r>
            <a:br/>
            <a:r>
              <a:t>(PostgreSQL)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692639" y="2697479"/>
            <a:ext cx="118872" cy="274320"/>
          </a:xfrm>
          <a:prstGeom prst="rightArrow">
            <a:avLst/>
          </a:prstGeom>
          <a:solidFill>
            <a:srgbClr val="7F7F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820655" y="2103120"/>
            <a:ext cx="1691640" cy="146304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/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Plotly</a:t>
            </a:r>
          </a:p>
          <a:p>
            <a:pPr algn="ctr">
              <a:spcBef>
                <a:spcPts val="800"/>
              </a:spcBef>
              <a:defRPr sz="1100">
                <a:solidFill>
                  <a:srgbClr val="FFFFFF"/>
                </a:solidFill>
              </a:defRPr>
            </a:pPr>
            <a:r>
              <a:t>2 cartes</a:t>
            </a:r>
            <a:br/>
            <a:r>
              <a:t>interactives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14800"/>
            <a:ext cx="1106424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3A5F"/>
                </a:solidFill>
              </a:defRPr>
            </a:pPr>
            <a:r>
              <a:t>Stack technique</a:t>
            </a:r>
          </a:p>
          <a:p>
            <a:pPr>
              <a:spcBef>
                <a:spcPts val="400"/>
              </a:spcBef>
              <a:defRPr sz="1300">
                <a:solidFill>
                  <a:srgbClr val="222222"/>
                </a:solidFill>
              </a:defRPr>
            </a:pPr>
            <a:r>
              <a:t>  • Python 3.11 — pandas, numpy, plotly</a:t>
            </a:r>
          </a:p>
          <a:p>
            <a:pPr>
              <a:spcBef>
                <a:spcPts val="400"/>
              </a:spcBef>
              <a:defRPr sz="1300">
                <a:solidFill>
                  <a:srgbClr val="222222"/>
                </a:solidFill>
              </a:defRPr>
            </a:pPr>
            <a:r>
              <a:t>  • Web scraping : requests, BeautifulSoup4, Selenium + WebDriverManager (Chrome)</a:t>
            </a:r>
          </a:p>
          <a:p>
            <a:pPr>
              <a:spcBef>
                <a:spcPts val="400"/>
              </a:spcBef>
              <a:defRPr sz="1300">
                <a:solidFill>
                  <a:srgbClr val="222222"/>
                </a:solidFill>
              </a:defRPr>
            </a:pPr>
            <a:r>
              <a:t>  • AWS : boto3 (S3), SQLAlchemy + psycopg2-binary (RDS PostgreSQL)</a:t>
            </a:r>
          </a:p>
          <a:p>
            <a:pPr>
              <a:spcBef>
                <a:spcPts val="400"/>
              </a:spcBef>
              <a:defRPr sz="1300">
                <a:solidFill>
                  <a:srgbClr val="222222"/>
                </a:solidFill>
              </a:defRPr>
            </a:pPr>
            <a:r>
              <a:t>  • Configuration : python-dotenv (clés OWM / AWS isolées de Git)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F7F7F"/>
                </a:solidFill>
              </a:defRPr>
            </a:pPr>
            <a:r>
              <a:t>Plan your trip with Kayak — Bloc 1 Jedha CDSD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7F7F"/>
                </a:solidFill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04A"/>
                </a:solidFill>
                <a:latin typeface="Arial"/>
              </a:defRPr>
            </a:pPr>
            <a:r>
              <a:t>STATISTIQUES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11430000" cy="200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A5F"/>
                </a:solidFill>
                <a:latin typeface="Arial"/>
              </a:defRPr>
            </a:pPr>
            <a:r>
              <a:t>Données collectées &amp; Top 5 destinations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2286000" cy="1645920"/>
          </a:xfrm>
          <a:prstGeom prst="rect">
            <a:avLst/>
          </a:prstGeom>
          <a:solidFill>
            <a:srgbClr val="F5F5F5"/>
          </a:solidFill>
          <a:ln w="19050">
            <a:solidFill>
              <a:srgbClr val="D4A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bIns="91440"/>
          <a:lstStyle/>
          <a:p>
            <a:pPr algn="ctr">
              <a:defRPr sz="3600" b="1">
                <a:solidFill>
                  <a:srgbClr val="1F3A5F"/>
                </a:solidFill>
                <a:latin typeface="Arial"/>
              </a:defRPr>
            </a:pPr>
            <a:r>
              <a:t>35</a:t>
            </a:r>
          </a:p>
          <a:p>
            <a:pPr algn="ctr">
              <a:defRPr sz="1300">
                <a:solidFill>
                  <a:srgbClr val="7F7F7F"/>
                </a:solidFill>
                <a:latin typeface="Arial"/>
              </a:defRPr>
            </a:pPr>
            <a:r>
              <a:t>Villes analysées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1463040"/>
            <a:ext cx="2286000" cy="1645920"/>
          </a:xfrm>
          <a:prstGeom prst="rect">
            <a:avLst/>
          </a:prstGeom>
          <a:solidFill>
            <a:srgbClr val="F5F5F5"/>
          </a:solidFill>
          <a:ln w="19050">
            <a:solidFill>
              <a:srgbClr val="D4A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bIns="91440"/>
          <a:lstStyle/>
          <a:p>
            <a:pPr algn="ctr">
              <a:defRPr sz="3600" b="1">
                <a:solidFill>
                  <a:srgbClr val="1F3A5F"/>
                </a:solidFill>
                <a:latin typeface="Arial"/>
              </a:defRPr>
            </a:pPr>
            <a:r>
              <a:t>175</a:t>
            </a:r>
          </a:p>
          <a:p>
            <a:pPr algn="ctr">
              <a:defRPr sz="1300">
                <a:solidFill>
                  <a:srgbClr val="7F7F7F"/>
                </a:solidFill>
                <a:latin typeface="Arial"/>
              </a:defRPr>
            </a:pPr>
            <a:r>
              <a:t>Jours de météo (35×5)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0" y="1463040"/>
            <a:ext cx="2286000" cy="1645920"/>
          </a:xfrm>
          <a:prstGeom prst="rect">
            <a:avLst/>
          </a:prstGeom>
          <a:solidFill>
            <a:srgbClr val="F5F5F5"/>
          </a:solidFill>
          <a:ln w="19050">
            <a:solidFill>
              <a:srgbClr val="D4A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bIns="91440"/>
          <a:lstStyle/>
          <a:p>
            <a:pPr algn="ctr">
              <a:defRPr sz="3600" b="1">
                <a:solidFill>
                  <a:srgbClr val="1F3A5F"/>
                </a:solidFill>
                <a:latin typeface="Arial"/>
              </a:defRPr>
            </a:pPr>
            <a:r>
              <a:t>679</a:t>
            </a:r>
          </a:p>
          <a:p>
            <a:pPr algn="ctr">
              <a:defRPr sz="1300">
                <a:solidFill>
                  <a:srgbClr val="7F7F7F"/>
                </a:solidFill>
                <a:latin typeface="Arial"/>
              </a:defRPr>
            </a:pPr>
            <a:r>
              <a:t>Hôtels scrapés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463040"/>
            <a:ext cx="2286000" cy="1645920"/>
          </a:xfrm>
          <a:prstGeom prst="rect">
            <a:avLst/>
          </a:prstGeom>
          <a:solidFill>
            <a:srgbClr val="F5F5F5"/>
          </a:solidFill>
          <a:ln w="19050">
            <a:solidFill>
              <a:srgbClr val="D4A0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37160" bIns="91440"/>
          <a:lstStyle/>
          <a:p>
            <a:pPr algn="ctr">
              <a:defRPr sz="3600" b="1">
                <a:solidFill>
                  <a:srgbClr val="1F3A5F"/>
                </a:solidFill>
                <a:latin typeface="Arial"/>
              </a:defRPr>
            </a:pPr>
            <a:r>
              <a:t>3</a:t>
            </a:r>
          </a:p>
          <a:p>
            <a:pPr algn="ctr">
              <a:defRPr sz="1300">
                <a:solidFill>
                  <a:srgbClr val="7F7F7F"/>
                </a:solidFill>
                <a:latin typeface="Arial"/>
              </a:defRPr>
            </a:pPr>
            <a:r>
              <a:t>Sources de données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38328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F3A5F"/>
                </a:solidFill>
              </a:defRPr>
            </a:pPr>
            <a:r>
              <a:t>Top 5 destinations (score météo /100, fév. 2026)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384048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962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Ville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Temp. max moy.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Proba pluie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Score /100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Aix-en-Provence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16,3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0,6 %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88,91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Avignon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17,5 °C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3,8 %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87,81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Marseille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15,8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0,0 %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86,65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Paris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15,6 °C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2,2 %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85,54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Grenoble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16,5 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3,8 %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222222"/>
                          </a:solidFill>
                        </a:defRPr>
                      </a:pPr>
                      <a:r>
                        <a:t>82,25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F7F7F"/>
                </a:solidFill>
              </a:defRPr>
            </a:pPr>
            <a:r>
              <a:t>Plan your trip with Kayak — Bloc 1 Jedha CDSD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7F7F"/>
                </a:solidFill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04A"/>
                </a:solidFill>
                <a:latin typeface="Arial"/>
              </a:defRPr>
            </a:pPr>
            <a:r>
              <a:t>STATISTIQUES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11430000" cy="200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A5F"/>
                </a:solidFill>
                <a:latin typeface="Arial"/>
              </a:defRPr>
            </a:pPr>
            <a:r>
              <a:t>Cartes interactives — livrables visuels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54480"/>
            <a:ext cx="5486400" cy="4114800"/>
          </a:xfrm>
          <a:prstGeom prst="rect">
            <a:avLst/>
          </a:prstGeom>
          <a:solidFill>
            <a:srgbClr val="F5F5F5"/>
          </a:solidFill>
          <a:ln>
            <a:solidFill>
              <a:srgbClr val="7F7F7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7F7F7F"/>
                </a:solidFill>
              </a:defRPr>
            </a:pPr>
            <a:r>
              <a:t>[ Insérer screenshot ici ]</a:t>
            </a:r>
            <a:br/>
            <a:r>
              <a:t>Top-5 Destinations</a:t>
            </a:r>
            <a:br/>
            <a:r>
              <a:t>(map_destinations.html / map_hotels.html)</a:t>
            </a:r>
          </a:p>
        </p:txBody>
      </p:sp>
      <p:sp>
        <p:nvSpPr>
          <p:cNvPr id="6" name="Rectangle 5"/>
          <p:cNvSpPr/>
          <p:nvPr/>
        </p:nvSpPr>
        <p:spPr>
          <a:xfrm>
            <a:off x="6309359" y="1554480"/>
            <a:ext cx="5486400" cy="4114800"/>
          </a:xfrm>
          <a:prstGeom prst="rect">
            <a:avLst/>
          </a:prstGeom>
          <a:solidFill>
            <a:srgbClr val="F5F5F5"/>
          </a:solidFill>
          <a:ln>
            <a:solidFill>
              <a:srgbClr val="7F7F7F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7F7F7F"/>
                </a:solidFill>
              </a:defRPr>
            </a:pPr>
            <a:r>
              <a:t>[ Insérer screenshot ici ]</a:t>
            </a:r>
            <a:br/>
            <a:r>
              <a:t>Top-20 Hôtels</a:t>
            </a:r>
            <a:br/>
            <a:r>
              <a:t>(map_destinations.html / map_hotels.html)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>
                <a:solidFill>
                  <a:srgbClr val="7F7F7F"/>
                </a:solidFill>
              </a:defRPr>
            </a:pPr>
            <a:r>
              <a:t>→ Cartes Plotly interactives (zoom, hover, légende) — fichiers HTML standalone, ouvrables hors-ligne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F7F7F"/>
                </a:solidFill>
              </a:defRPr>
            </a:pPr>
            <a:r>
              <a:t>Plan your trip with Kayak — Bloc 1 Jedha CDSD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7F7F"/>
                </a:solidFill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D4A04A"/>
                </a:solidFill>
                <a:latin typeface="Arial"/>
              </a:defRPr>
            </a:pPr>
            <a:r>
              <a:t>CONCLUSION ET PERSPECTIVES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" y="777240"/>
            <a:ext cx="11430000" cy="20000"/>
          </a:xfrm>
          <a:prstGeom prst="rect">
            <a:avLst/>
          </a:prstGeom>
          <a:solidFill>
            <a:srgbClr val="D4A0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0584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F3A5F"/>
                </a:solidFill>
                <a:latin typeface="Arial"/>
              </a:defRPr>
            </a:pPr>
            <a:r>
              <a:t>Bilan &amp; ouverture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3A5F"/>
                </a:solidFill>
              </a:defRPr>
            </a:pPr>
            <a:r>
              <a:t>Pipeline data fonctionnel &amp; 3 livrables Jedha validés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031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222222"/>
                </a:solidFill>
                <a:latin typeface="Arial"/>
              </a:defRPr>
            </a:pPr>
            <a:r>
              <a:t>• CSV enrichi (météo + hôtels) déposé sur AWS S3 — Data Lake</a:t>
            </a:r>
          </a:p>
          <a:p>
            <a:pPr>
              <a:spcAft>
                <a:spcPts val="800"/>
              </a:spcAft>
              <a:defRPr sz="1400">
                <a:solidFill>
                  <a:srgbClr val="222222"/>
                </a:solidFill>
                <a:latin typeface="Arial"/>
              </a:defRPr>
            </a:pPr>
            <a:r>
              <a:t>• Base SQL PostgreSQL sur AWS RDS — Data Warehouse</a:t>
            </a:r>
          </a:p>
          <a:p>
            <a:pPr>
              <a:spcAft>
                <a:spcPts val="800"/>
              </a:spcAft>
              <a:defRPr sz="1400">
                <a:solidFill>
                  <a:srgbClr val="222222"/>
                </a:solidFill>
                <a:latin typeface="Arial"/>
              </a:defRPr>
            </a:pPr>
            <a:r>
              <a:t>• 2 cartes interactives Plotly — Top-5 destinations &amp; Top-20 hôtels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657600"/>
            <a:ext cx="110642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F3A5F"/>
                </a:solidFill>
              </a:defRPr>
            </a:pPr>
            <a:r>
              <a:t>Pistes d'amélioration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0624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222222"/>
                </a:solidFill>
                <a:latin typeface="Arial"/>
              </a:defRPr>
            </a:pPr>
            <a:r>
              <a:t>• Élargir le périmètre : Europe, données saisonnières (forecast 30j), critères budget</a:t>
            </a:r>
          </a:p>
          <a:p>
            <a:pPr>
              <a:spcAft>
                <a:spcPts val="800"/>
              </a:spcAft>
              <a:defRPr sz="1300">
                <a:solidFill>
                  <a:srgbClr val="222222"/>
                </a:solidFill>
                <a:latin typeface="Arial"/>
              </a:defRPr>
            </a:pPr>
            <a:r>
              <a:t>• Automatiser le pipeline (Airflow) avec rafraîchissement quotidien des prix hôtels</a:t>
            </a:r>
          </a:p>
          <a:p>
            <a:pPr>
              <a:spcAft>
                <a:spcPts val="800"/>
              </a:spcAft>
              <a:defRPr sz="1300">
                <a:solidFill>
                  <a:srgbClr val="222222"/>
                </a:solidFill>
                <a:latin typeface="Arial"/>
              </a:defRPr>
            </a:pPr>
            <a:r>
              <a:t>• Ajouter un scoring ML pondéré par les préférences utilisateur (modèle de recommandation)</a:t>
            </a:r>
          </a:p>
          <a:p>
            <a:pPr>
              <a:spcAft>
                <a:spcPts val="800"/>
              </a:spcAft>
              <a:defRPr sz="1300">
                <a:solidFill>
                  <a:srgbClr val="222222"/>
                </a:solidFill>
                <a:latin typeface="Arial"/>
              </a:defRPr>
            </a:pPr>
            <a:r>
              <a:t>• Front-end Streamlit pour exposer les recommandations aux équipes marketing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217920"/>
            <a:ext cx="11064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i="1">
                <a:solidFill>
                  <a:srgbClr val="D4A04A"/>
                </a:solidFill>
              </a:defRPr>
            </a:pPr>
            <a:r>
              <a:t>Code &amp; démo : github.com/aymericlahonde-dotcom/cdsd-b1-kayak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644652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i="1">
                <a:solidFill>
                  <a:srgbClr val="7F7F7F"/>
                </a:solidFill>
              </a:defRPr>
            </a:pPr>
            <a:r>
              <a:t>Plan your trip with Kayak — Bloc 1 Jedha CDSD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7F7F7F"/>
                </a:solidFill>
              </a:defRPr>
            </a:pPr>
            <a: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